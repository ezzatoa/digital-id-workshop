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F8BDD6-A6B1-4D2A-B13A-B7B535123266}" v="13" dt="2026-07-18T13:40:14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64" autoAdjust="0"/>
  </p:normalViewPr>
  <p:slideViewPr>
    <p:cSldViewPr snapToGrid="0" showGuides="1">
      <p:cViewPr varScale="1">
        <p:scale>
          <a:sx n="81" d="100"/>
          <a:sy n="81" d="100"/>
        </p:scale>
        <p:origin x="114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za Mohammed Othman Omer Eid" userId="07dc8c83-55dd-442f-afa4-2c823434923d" providerId="ADAL" clId="{8F5AD502-E0F3-412C-AE75-A5C081411AB8}"/>
    <pc:docChg chg="modSld">
      <pc:chgData name="Hamza Mohammed Othman Omer Eid" userId="07dc8c83-55dd-442f-afa4-2c823434923d" providerId="ADAL" clId="{8F5AD502-E0F3-412C-AE75-A5C081411AB8}" dt="2026-07-18T13:46:47.518" v="108" actId="34135"/>
      <pc:docMkLst>
        <pc:docMk/>
      </pc:docMkLst>
      <pc:sldChg chg="modSp mod">
        <pc:chgData name="Hamza Mohammed Othman Omer Eid" userId="07dc8c83-55dd-442f-afa4-2c823434923d" providerId="ADAL" clId="{8F5AD502-E0F3-412C-AE75-A5C081411AB8}" dt="2026-07-18T13:46:47.518" v="108" actId="34135"/>
        <pc:sldMkLst>
          <pc:docMk/>
          <pc:sldMk cId="2615378242" sldId="256"/>
        </pc:sldMkLst>
        <pc:spChg chg="mod">
          <ac:chgData name="Hamza Mohammed Othman Omer Eid" userId="07dc8c83-55dd-442f-afa4-2c823434923d" providerId="ADAL" clId="{8F5AD502-E0F3-412C-AE75-A5C081411AB8}" dt="2026-07-18T13:46:43.424" v="107" actId="34135"/>
          <ac:spMkLst>
            <pc:docMk/>
            <pc:sldMk cId="2615378242" sldId="256"/>
            <ac:spMk id="4" creationId="{4F8B2645-569B-F8F9-8513-5562D7DA48B9}"/>
          </ac:spMkLst>
        </pc:spChg>
        <pc:spChg chg="mod">
          <ac:chgData name="Hamza Mohammed Othman Omer Eid" userId="07dc8c83-55dd-442f-afa4-2c823434923d" providerId="ADAL" clId="{8F5AD502-E0F3-412C-AE75-A5C081411AB8}" dt="2026-07-18T13:46:47.518" v="108" actId="34135"/>
          <ac:spMkLst>
            <pc:docMk/>
            <pc:sldMk cId="2615378242" sldId="256"/>
            <ac:spMk id="5" creationId="{34DD6E71-ADC7-E8BD-7654-DD76A4070A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0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00:00 - 00:03]</a:t>
            </a:r>
          </a:p>
          <a:p>
            <a:r>
              <a:t>• الترحيب بالزملاء والزميلات أعضاء هيئة التدريس الجدد بجامعة طيبة.</a:t>
            </a:r>
          </a:p>
          <a:p>
            <a:r>
              <a:t>• التعريف بنفسي: د. عزت عمر عبدالله أبوعزه، أستاذ مساعد بقسم تقنية الأشعة، كلية العلوم الطبية التطبيقية.</a:t>
            </a:r>
          </a:p>
          <a:p>
            <a:r>
              <a:t>• الهدف العام: بناء حضور بحثي احترافي يضمن نسبة الأبحاث والاستشهادات للباحث ولجامعة طيبة، وفتح آفاق التعاون الدولي.</a:t>
            </a:r>
          </a:p>
          <a:p>
            <a:r>
              <a:t>• نعتمد اليوم على تطبيق ويب تفاعلي طورناه خصيصاً ليمنحكم تجربة محاكاة واقعية بدون الحاجة لإنشاء حسابات أثناء الجلسة.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التوقيت</a:t>
            </a:r>
            <a:r>
              <a:rPr dirty="0"/>
              <a:t> </a:t>
            </a:r>
            <a:r>
              <a:rPr dirty="0" err="1"/>
              <a:t>المقترح</a:t>
            </a:r>
            <a:r>
              <a:rPr dirty="0"/>
              <a:t>: 00:03 - 00:06]</a:t>
            </a:r>
          </a:p>
          <a:p>
            <a:r>
              <a:rPr dirty="0"/>
              <a:t>• </a:t>
            </a:r>
            <a:r>
              <a:rPr dirty="0" err="1"/>
              <a:t>التأكيد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مواءمة</a:t>
            </a:r>
            <a:r>
              <a:rPr dirty="0"/>
              <a:t> البرنامج </a:t>
            </a:r>
            <a:r>
              <a:rPr dirty="0" err="1"/>
              <a:t>مع</a:t>
            </a:r>
            <a:r>
              <a:rPr dirty="0"/>
              <a:t> </a:t>
            </a:r>
            <a:r>
              <a:rPr dirty="0" err="1"/>
              <a:t>معايير</a:t>
            </a:r>
            <a:r>
              <a:rPr dirty="0"/>
              <a:t> عمادة </a:t>
            </a:r>
            <a:r>
              <a:rPr dirty="0" err="1"/>
              <a:t>التطوير</a:t>
            </a:r>
            <a:r>
              <a:rPr dirty="0"/>
              <a:t> </a:t>
            </a:r>
            <a:r>
              <a:rPr dirty="0" err="1"/>
              <a:t>والجودة</a:t>
            </a:r>
            <a:r>
              <a:rPr dirty="0"/>
              <a:t> </a:t>
            </a:r>
            <a:r>
              <a:rPr dirty="0" err="1"/>
              <a:t>للعام</a:t>
            </a:r>
            <a:r>
              <a:rPr dirty="0"/>
              <a:t> 1448هـ.</a:t>
            </a:r>
          </a:p>
          <a:p>
            <a:r>
              <a:rPr dirty="0"/>
              <a:t>• </a:t>
            </a:r>
            <a:r>
              <a:rPr dirty="0" err="1"/>
              <a:t>الإشارة</a:t>
            </a:r>
            <a:r>
              <a:rPr dirty="0"/>
              <a:t> </a:t>
            </a:r>
            <a:r>
              <a:rPr dirty="0" err="1"/>
              <a:t>إلى</a:t>
            </a:r>
            <a:r>
              <a:rPr dirty="0"/>
              <a:t> </a:t>
            </a:r>
            <a:r>
              <a:rPr dirty="0" err="1"/>
              <a:t>أن</a:t>
            </a:r>
            <a:r>
              <a:rPr dirty="0"/>
              <a:t> </a:t>
            </a:r>
            <a:r>
              <a:rPr dirty="0" err="1"/>
              <a:t>جدارة</a:t>
            </a:r>
            <a:r>
              <a:rPr dirty="0"/>
              <a:t> '</a:t>
            </a:r>
            <a:r>
              <a:rPr dirty="0" err="1"/>
              <a:t>التحول</a:t>
            </a:r>
            <a:r>
              <a:rPr dirty="0"/>
              <a:t> </a:t>
            </a:r>
            <a:r>
              <a:rPr dirty="0" err="1"/>
              <a:t>الرقمي</a:t>
            </a:r>
            <a:r>
              <a:rPr dirty="0"/>
              <a:t>' </a:t>
            </a:r>
            <a:r>
              <a:rPr dirty="0" err="1"/>
              <a:t>تعني</a:t>
            </a:r>
            <a:r>
              <a:rPr dirty="0"/>
              <a:t> </a:t>
            </a:r>
            <a:r>
              <a:rPr dirty="0" err="1"/>
              <a:t>انتقال</a:t>
            </a:r>
            <a:r>
              <a:rPr dirty="0"/>
              <a:t> </a:t>
            </a:r>
            <a:r>
              <a:rPr dirty="0" err="1"/>
              <a:t>الباحث</a:t>
            </a:r>
            <a:r>
              <a:rPr dirty="0"/>
              <a:t> من </a:t>
            </a:r>
            <a:r>
              <a:rPr dirty="0" err="1"/>
              <a:t>العمل</a:t>
            </a:r>
            <a:r>
              <a:rPr dirty="0"/>
              <a:t> </a:t>
            </a:r>
            <a:r>
              <a:rPr dirty="0" err="1"/>
              <a:t>المنعزل</a:t>
            </a:r>
            <a:r>
              <a:rPr dirty="0"/>
              <a:t> </a:t>
            </a:r>
            <a:r>
              <a:rPr dirty="0" err="1"/>
              <a:t>إلى</a:t>
            </a:r>
            <a:r>
              <a:rPr dirty="0"/>
              <a:t> </a:t>
            </a:r>
            <a:r>
              <a:rPr dirty="0" err="1"/>
              <a:t>شبكات</a:t>
            </a:r>
            <a:r>
              <a:rPr dirty="0"/>
              <a:t> </a:t>
            </a:r>
            <a:r>
              <a:rPr dirty="0" err="1"/>
              <a:t>البحث</a:t>
            </a:r>
            <a:r>
              <a:rPr dirty="0"/>
              <a:t> </a:t>
            </a:r>
            <a:r>
              <a:rPr dirty="0" err="1"/>
              <a:t>المفتوحة</a:t>
            </a:r>
            <a:r>
              <a:rPr dirty="0"/>
              <a:t> </a:t>
            </a:r>
            <a:r>
              <a:rPr dirty="0" err="1"/>
              <a:t>والمترابطة</a:t>
            </a:r>
            <a:r>
              <a:rPr dirty="0"/>
              <a:t> </a:t>
            </a:r>
            <a:r>
              <a:rPr dirty="0" err="1"/>
              <a:t>عالمياً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التذكير</a:t>
            </a:r>
            <a:r>
              <a:rPr dirty="0"/>
              <a:t> </a:t>
            </a:r>
            <a:r>
              <a:rPr dirty="0" err="1"/>
              <a:t>بأن</a:t>
            </a:r>
            <a:r>
              <a:rPr dirty="0"/>
              <a:t> </a:t>
            </a:r>
            <a:r>
              <a:rPr dirty="0" err="1"/>
              <a:t>مخرجات</a:t>
            </a:r>
            <a:r>
              <a:rPr dirty="0"/>
              <a:t> </a:t>
            </a:r>
            <a:r>
              <a:rPr dirty="0" err="1"/>
              <a:t>اليوم</a:t>
            </a:r>
            <a:r>
              <a:rPr dirty="0"/>
              <a:t> </a:t>
            </a:r>
            <a:r>
              <a:rPr dirty="0" err="1"/>
              <a:t>لن</a:t>
            </a:r>
            <a:r>
              <a:rPr dirty="0"/>
              <a:t> </a:t>
            </a:r>
            <a:r>
              <a:rPr dirty="0" err="1"/>
              <a:t>تكون</a:t>
            </a:r>
            <a:r>
              <a:rPr dirty="0"/>
              <a:t> </a:t>
            </a:r>
            <a:r>
              <a:rPr dirty="0" err="1"/>
              <a:t>نظرية</a:t>
            </a:r>
            <a:r>
              <a:rPr dirty="0"/>
              <a:t>، </a:t>
            </a:r>
            <a:r>
              <a:rPr dirty="0" err="1"/>
              <a:t>بل</a:t>
            </a:r>
            <a:r>
              <a:rPr dirty="0"/>
              <a:t> </a:t>
            </a:r>
            <a:r>
              <a:rPr dirty="0" err="1"/>
              <a:t>سنطبقها</a:t>
            </a:r>
            <a:r>
              <a:rPr dirty="0"/>
              <a:t> </a:t>
            </a:r>
            <a:r>
              <a:rPr dirty="0" err="1"/>
              <a:t>عملياً</a:t>
            </a:r>
            <a:r>
              <a:rPr dirty="0"/>
              <a:t> </a:t>
            </a:r>
            <a:r>
              <a:rPr dirty="0" err="1"/>
              <a:t>داخل</a:t>
            </a:r>
            <a:r>
              <a:rPr dirty="0"/>
              <a:t> </a:t>
            </a:r>
            <a:r>
              <a:rPr dirty="0" err="1"/>
              <a:t>تطبيق</a:t>
            </a:r>
            <a:r>
              <a:rPr dirty="0"/>
              <a:t> </a:t>
            </a:r>
            <a:r>
              <a:rPr dirty="0" err="1"/>
              <a:t>الويب</a:t>
            </a:r>
            <a:r>
              <a:rPr dirty="0"/>
              <a:t> </a:t>
            </a:r>
            <a:r>
              <a:rPr dirty="0" err="1"/>
              <a:t>التفاعلي</a:t>
            </a:r>
            <a:r>
              <a:rPr dirty="0"/>
              <a:t> </a:t>
            </a:r>
            <a:r>
              <a:rPr dirty="0" err="1"/>
              <a:t>للورشة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00:06 - 00:09]</a:t>
            </a:r>
          </a:p>
          <a:p>
            <a:r>
              <a:t>• استعراض خارطة الطريق والتأكيد على الانضباط الزمني (90 دقيقة موزعة بدقة).</a:t>
            </a:r>
          </a:p>
          <a:p>
            <a:r>
              <a:t>• تشجيع المتدربين على فتح رابط تطبيق الويب على متصفحاتهم أو هواتفهم.</a:t>
            </a:r>
          </a:p>
          <a:p>
            <a:r>
              <a:t>• التأكيد: لا تقلقوا إذا لم تكن لديكم حسابات سابقة على ORCID أو ResearchGate، صممنا محاكيات تحاكي الواجهات الحقيقية بنسبة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00:09 - 00:14]</a:t>
            </a:r>
          </a:p>
          <a:p>
            <a:r>
              <a:t>• دعوة جميع المتدربين لفتح التطبيق والضغط على 'مقياس النضج الرقمي'.</a:t>
            </a:r>
          </a:p>
          <a:p>
            <a:r>
              <a:t>• منح المتدربين 3 دقائق لتعبئة الأسئلة العشرة.</a:t>
            </a:r>
          </a:p>
          <a:p>
            <a:r>
              <a:t>• سؤال سريع عبر الشات: كم زميلاً حصل على نتيجة 'ناشئ' أو 'مبتدئ'؟ نطمئنهم بأن الورشة مصممة خصيصاً لسد هذه الفجوة.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00:14 - 00:18]</a:t>
            </a:r>
          </a:p>
          <a:p>
            <a:r>
              <a:t>• ضرب مثل واقعي باسمي الشخصي (Aboazza مقابل Abuazza) وكيف يسبب حرف واحد انشطار الملف التعريفي إلى ملفين في Scopus!</a:t>
            </a:r>
          </a:p>
          <a:p>
            <a:r>
              <a:t>• الإشارة إلى دراسات كشفت أن ما يصل إلى 25% من استشهادات الباحثين العرب تضيع بسبب أخطاء الترجمة الصوتية والتهجئة.</a:t>
            </a:r>
          </a:p>
          <a:p>
            <a:r>
              <a:t>• التأكيد على أن الحل ليس بتوحيد الإملاء في المجلات فحسب، بل باستخدام المعرف الرقمي الموحد ORCID.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00:18 - 00:22]</a:t>
            </a:r>
          </a:p>
          <a:p>
            <a:r>
              <a:t>• التذكير بأهمية كتابة اسم جامعة طيبة بدقة باللغة الإنجليزية: Taibah University وليس University of Taibah أو طيبة يونيفيرستي.</a:t>
            </a:r>
          </a:p>
          <a:p>
            <a:r>
              <a:t>• توضيح أن خوارزميات Scopus و Web of Science تجمع الأبحاث بناءً على الـ Affiliation المحدد بدقة.</a:t>
            </a:r>
          </a:p>
          <a:p>
            <a:r>
              <a:t>• الإشارة إلى دور كل أستاذ في دعم مؤشرات أداء الجامعة ومستهدفات رؤية المملكة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00:22 - 00:24]</a:t>
            </a:r>
          </a:p>
          <a:p>
            <a:r>
              <a:t>• ننتقل الآن إلى صلب المهارات العملية: المنصات الأربع الكبرى.</a:t>
            </a:r>
          </a:p>
          <a:p>
            <a:r>
              <a:t>• سنشرح كل منصة باختصار مكثف، ثم ننتقل فوراً لمحاكاتها التفاعلية داخل تطبيق الويب.</a:t>
            </a:r>
          </a:p>
          <a:p>
            <a:r>
              <a:t>• تنبيه للمتدربين: ركزوا في الفروق بين المنصات؛ لكل منصة جمهور ووظيفة تختلف تماماً عن الأخرى.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00:24 - 00:28]</a:t>
            </a:r>
          </a:p>
          <a:p>
            <a:r>
              <a:t>• شرح مبسط للـ 16 رقماً الخاص بـ ORCID وأن الرقم الأخير قد يكون حرف 'X' لأنه خانة تحقق حسابية (Checksum).</a:t>
            </a:r>
          </a:p>
          <a:p>
            <a:r>
              <a:t>• التأكيد على أهمية خانة 'Also known as' لكتابة الاسم باللغة العربية وبالحروف اللاتينية بمختلف أشكالها.</a:t>
            </a:r>
          </a:p>
          <a:p>
            <a:r>
              <a:t>• الآن سننتقل لتطبيق المحاكاة ليرى المتدربون كيف يتم بناء الملف خطوة بخطوة.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00:28 - 00:35]</a:t>
            </a:r>
          </a:p>
          <a:p>
            <a:r>
              <a:t>• توجيه المتدربين لفتح محاكي ORCID في التطبيق.</a:t>
            </a:r>
          </a:p>
          <a:p>
            <a:r>
              <a:t>• إعطاء المتدربين 5 دقائق لتجربة إدخال البيانات وملاحظة كيف تظهر شارة ORCID الخضراء.</a:t>
            </a:r>
          </a:p>
          <a:p>
            <a:r>
              <a:t>• التعليق على أهمية اختيار مستوى الخصوصية 'Everyone' (الأخضر) ليتمكن محرك Google ومسؤولو التصنيف من قراءة السجل.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00:35 - 00:38]</a:t>
            </a:r>
          </a:p>
          <a:p>
            <a:r>
              <a:t>• التأكيد بشدة: لا تجعل حساب ORCID خاصاً (Only Me)، فهذا يفقده 90% من قيمته!</a:t>
            </a:r>
          </a:p>
          <a:p>
            <a:r>
              <a:t>• شرح كيفية عمل Crossref: عندما توافق على إذن Crossref في صندوق بريد ORCID، لن تضطر مستقبلاً لإضافة أبحاثك يدوياً.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00:38 - 00:42]</a:t>
            </a:r>
          </a:p>
          <a:p>
            <a:r>
              <a:t>• توضيح أن الكثير من الباحثين ينشئون حساباً على Google Scholar ولكنهم ينسون تفعيل خيار 'Public' فيظل الملف مخفياً تماماً!</a:t>
            </a:r>
          </a:p>
          <a:p>
            <a:r>
              <a:t>• التأكيد على استخدام الإيميل الجامعي الرسمي، وتنبيههم بأنه يمكن تسجيل الدخول بحساب Gmail عادي ولكن توثيق المؤسسة يتطلب إيميل الجامعة.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التوقيت</a:t>
            </a:r>
            <a:r>
              <a:rPr dirty="0"/>
              <a:t> </a:t>
            </a:r>
            <a:r>
              <a:rPr dirty="0" err="1"/>
              <a:t>المقترح</a:t>
            </a:r>
            <a:r>
              <a:rPr dirty="0"/>
              <a:t>: 00:42 - 00:48]</a:t>
            </a:r>
          </a:p>
          <a:p>
            <a:r>
              <a:rPr dirty="0"/>
              <a:t>• </a:t>
            </a:r>
            <a:r>
              <a:rPr dirty="0" err="1"/>
              <a:t>توجيه</a:t>
            </a:r>
            <a:r>
              <a:rPr dirty="0"/>
              <a:t> </a:t>
            </a:r>
            <a:r>
              <a:rPr dirty="0" err="1"/>
              <a:t>المتدربين</a:t>
            </a:r>
            <a:r>
              <a:rPr dirty="0"/>
              <a:t> </a:t>
            </a:r>
            <a:r>
              <a:rPr dirty="0" err="1"/>
              <a:t>لتجربة</a:t>
            </a:r>
            <a:r>
              <a:rPr dirty="0"/>
              <a:t> </a:t>
            </a:r>
            <a:r>
              <a:rPr dirty="0" err="1"/>
              <a:t>محاكي</a:t>
            </a:r>
            <a:r>
              <a:rPr dirty="0"/>
              <a:t> Google Scholar.</a:t>
            </a:r>
          </a:p>
          <a:p>
            <a:r>
              <a:rPr dirty="0"/>
              <a:t>• </a:t>
            </a:r>
            <a:r>
              <a:rPr dirty="0" err="1"/>
              <a:t>التركيز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زر</a:t>
            </a:r>
            <a:r>
              <a:rPr dirty="0"/>
              <a:t> 'Merge' (</a:t>
            </a:r>
            <a:r>
              <a:rPr dirty="0" err="1"/>
              <a:t>دمج</a:t>
            </a:r>
            <a:r>
              <a:rPr dirty="0"/>
              <a:t> </a:t>
            </a:r>
            <a:r>
              <a:rPr dirty="0" err="1"/>
              <a:t>الأبحاث</a:t>
            </a:r>
            <a:r>
              <a:rPr dirty="0"/>
              <a:t>): </a:t>
            </a:r>
            <a:r>
              <a:rPr dirty="0" err="1"/>
              <a:t>إيضاح</a:t>
            </a:r>
            <a:r>
              <a:rPr dirty="0"/>
              <a:t> </a:t>
            </a:r>
            <a:r>
              <a:rPr dirty="0" err="1"/>
              <a:t>كيف</a:t>
            </a:r>
            <a:r>
              <a:rPr dirty="0"/>
              <a:t> </a:t>
            </a:r>
            <a:r>
              <a:rPr dirty="0" err="1"/>
              <a:t>يرفع</a:t>
            </a:r>
            <a:r>
              <a:rPr dirty="0"/>
              <a:t> </a:t>
            </a:r>
            <a:r>
              <a:rPr dirty="0" err="1"/>
              <a:t>الدمج</a:t>
            </a:r>
            <a:r>
              <a:rPr dirty="0"/>
              <a:t> رقم </a:t>
            </a:r>
            <a:r>
              <a:rPr dirty="0" err="1"/>
              <a:t>الاقتباسات</a:t>
            </a:r>
            <a:r>
              <a:rPr dirty="0"/>
              <a:t> </a:t>
            </a:r>
            <a:r>
              <a:rPr dirty="0" err="1"/>
              <a:t>للبحث</a:t>
            </a:r>
            <a:r>
              <a:rPr dirty="0"/>
              <a:t> </a:t>
            </a:r>
            <a:r>
              <a:rPr dirty="0" err="1"/>
              <a:t>الواحد</a:t>
            </a:r>
            <a:r>
              <a:rPr dirty="0"/>
              <a:t> </a:t>
            </a:r>
            <a:r>
              <a:rPr dirty="0" err="1"/>
              <a:t>ويصحح</a:t>
            </a:r>
            <a:r>
              <a:rPr dirty="0"/>
              <a:t> </a:t>
            </a:r>
            <a:r>
              <a:rPr dirty="0" err="1"/>
              <a:t>مؤشر</a:t>
            </a:r>
            <a:r>
              <a:rPr dirty="0"/>
              <a:t> </a:t>
            </a:r>
            <a:r>
              <a:rPr dirty="0" err="1"/>
              <a:t>هيرش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التنبيه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خيار</a:t>
            </a:r>
            <a:r>
              <a:rPr dirty="0"/>
              <a:t> 'Don't automatically add articles to profile; email me for review' </a:t>
            </a:r>
            <a:r>
              <a:rPr dirty="0" err="1"/>
              <a:t>لمن</a:t>
            </a:r>
            <a:r>
              <a:rPr dirty="0"/>
              <a:t> </a:t>
            </a:r>
            <a:r>
              <a:rPr dirty="0" err="1"/>
              <a:t>لديهم</a:t>
            </a:r>
            <a:r>
              <a:rPr dirty="0"/>
              <a:t> </a:t>
            </a:r>
            <a:r>
              <a:rPr dirty="0" err="1"/>
              <a:t>أسماء</a:t>
            </a:r>
            <a:r>
              <a:rPr dirty="0"/>
              <a:t> </a:t>
            </a:r>
            <a:r>
              <a:rPr dirty="0" err="1"/>
              <a:t>شائعة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00:48 - 00:51]</a:t>
            </a:r>
          </a:p>
          <a:p>
            <a:r>
              <a:t>• نصيحة عملية: استعرض الكلمات المفتاحية في تخصصك واعرف من هم الرواد فيها على Google Scholar.</a:t>
            </a:r>
          </a:p>
          <a:p>
            <a:r>
              <a:t>• الإشارة إلى أن الباحثين يزورون صفحات المتخصصين عبر النقر على تلك الكلمات، وهي وسيلة ممتازة لجذب قراء واستشهادات جديدة.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00:51 - 00:54]</a:t>
            </a:r>
          </a:p>
          <a:p>
            <a:r>
              <a:t>• التأكيد على أن ResearchGate منصة ممتازة لكسر العزلة البحثية.</a:t>
            </a:r>
          </a:p>
          <a:p>
            <a:r>
              <a:t>• التنويه بوجود محاذير قانونية في رفع الأبحاث سنشرحها في الشريحة التالية (شريحة حقوق النشر).</a:t>
            </a:r>
          </a:p>
          <a:p>
            <a:r>
              <a:t>• الاستعداد للانتقال لمحاكي ResearchGate.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00:54 - 01:00]</a:t>
            </a:r>
          </a:p>
          <a:p>
            <a:r>
              <a:t>• فتح محاكي ResearchGate بالتطبيق.</a:t>
            </a:r>
          </a:p>
          <a:p>
            <a:r>
              <a:t>• تتبع تجربة رفع الملف: إبراز التنبيه القانوني الذي يظهر للمتدربين عند محاولة رفع PDF النهائي لمجلة تجارية مغلقة.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01:00 - 01:04]</a:t>
            </a:r>
          </a:p>
          <a:p>
            <a:r>
              <a:t>• هذه الشريحة من أهم الشرائح التوعوية: كثير من أعضاء هيئة التدريس يرفعون الـ Publisher PDF على ResearchGate فتأتيهم إخطارات إزالة (DMCA Takedown) من Elsevier أو Springer.</a:t>
            </a:r>
          </a:p>
          <a:p>
            <a:r>
              <a:t>• توضيح مفهوم 'الوصول المفتوح الأخضر' (Green Open Access) والاعتماد على نسخة الـ AAM.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01:04 - 01:08]</a:t>
            </a:r>
          </a:p>
          <a:p>
            <a:r>
              <a:t>• تأكيد أن الترقيات في معظم الجامعات السعودية تعتمد على تقرير Scopus أو Clarivate.</a:t>
            </a:r>
          </a:p>
          <a:p>
            <a:r>
              <a:t>• شرح كيف يؤدي انقسام الملف إلى حرمان الباحث من نقاط حاسمة في معامل هيرش.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01:08 - 01:14]</a:t>
            </a:r>
          </a:p>
          <a:p>
            <a:r>
              <a:t>• فتح محاكي Scopus في تطبيق الويب.</a:t>
            </a:r>
          </a:p>
          <a:p>
            <a:r>
              <a:t>• استعراض تجربة الدمج: المتدربون سيشاهدون عملياً كيف يندمج الحسابين ويقفز معامل h-index بعد دمج استشهادات الورقتين المفصولتين.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01:14 - 01:17]</a:t>
            </a:r>
          </a:p>
          <a:p>
            <a:r>
              <a:t>• تلخيص المحطة الأولى بهذه المصفوفة الجامعة.</a:t>
            </a:r>
          </a:p>
          <a:p>
            <a:r>
              <a:t>• الإجابة عن السؤال المتكرر: هل يغني أحدهم عن الآخر؟ الجواب: لا، كل منصة تكمل الأخرى وتشكل معاً منظومة الهوية الرقمية الكاملة.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01:17 - 01:19]</a:t>
            </a:r>
          </a:p>
          <a:p>
            <a:r>
              <a:t>• ننتقل إلى المحطة الثانية: فهم مؤشرات الأثر العلمي.</a:t>
            </a:r>
          </a:p>
          <a:p>
            <a:r>
              <a:t>• كثير من الباحثين يسمعون عن h-index لكنهم لا يعرفون بدقة كيف يُحسب، ولماذا قد ينشر باحث أوراقاً جديدة ولا يرتفع معامله إطلاقاً!</a:t>
            </a:r>
          </a:p>
          <a:p>
            <a:r>
              <a:t>• سنكشف الشفرة الرياضية وكيف تركز مجهودك الترويجي على الأوراق الصحيحة.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01:19 - 01:24]</a:t>
            </a:r>
          </a:p>
          <a:p>
            <a:r>
              <a:t>• التأكيد على الفكرة العبقرية لـ h-index: يجمع بين الإنتاجية (الكم) والجودة (الكيف / الاستشهادات).</a:t>
            </a:r>
          </a:p>
          <a:p>
            <a:r>
              <a:t>• الإيضاح: لو نشرت 100 بحث وكل بحث نال استشهاداً واحداً فقط، فمعاملك هو 1 فقط!</a:t>
            </a:r>
          </a:p>
          <a:p>
            <a:r>
              <a:t>• ولو نشرت بحثاً واحداً ونال 10,000 استشهاد، فمعاملك هو 1 أيضاً!</a:t>
            </a:r>
          </a:p>
          <a:p>
            <a:r>
              <a:t>• لذلك يتطلب رفع معامل h توازناً مستمراً.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01:24 - 01:28]</a:t>
            </a:r>
          </a:p>
          <a:p>
            <a:r>
              <a:t>• إبراز النضج الفكري للباحث في فهم المؤشرات: المؤشرات أدوات قياس وليست غايات بحد ذاتها.</a:t>
            </a:r>
          </a:p>
          <a:p>
            <a:r>
              <a:t>• تحذير من مقارنة باحث في قسم الأشعة أو الصيدلة بزميل له في قسم الرياضيات أو القانون باستخدام h-index المجرد.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01:28 - 01:31]</a:t>
            </a:r>
          </a:p>
          <a:p>
            <a:r>
              <a:t>• توضيح كيف يقرأ المقيمون لوحة Google Scholar: ينظرون للـ h-index ولإجمالي الاستشهادات ولعمود 'Since 2021' لمعرفة هل الباحث ما زال نشطاً أم أن أبحاثه قديمة.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01:31 - 01:34]</a:t>
            </a:r>
          </a:p>
          <a:p>
            <a:r>
              <a:t>• التأكيد على أن FWCI هو المقياس الأكثر إنصافاً عند تقييم الباحثين في لجان الجوائز والترقيات المؤسسية.</a:t>
            </a:r>
          </a:p>
          <a:p>
            <a:r>
              <a:t>• إيضاح أن استشهاداً واحداً في ورقة متخصصة في الرياضيات قد يمنح FWCI = 2.5، بينما 10 استشهادات في ورقة طب عام قد تمنح FWCI =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01:34 - 01:37]</a:t>
            </a:r>
          </a:p>
          <a:p>
            <a:r>
              <a:t>• إيضاح أن صناع القرار وهيئات التمويل تركز اليوم على الأثر المجتمعي (Societal Impact): هل بقي بحثك حبيس الأدراج أم أثر في خطة علاجية أو قرار وزاري؟</a:t>
            </a:r>
          </a:p>
          <a:p>
            <a:r>
              <a:t>• الإشارة إلى أن شارة Altmetric تظهر بجانب الأوراق في معظم المجلات الكبرى.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01:37 - 01:43]</a:t>
            </a:r>
          </a:p>
          <a:p>
            <a:r>
              <a:t>• توجيه المتدربين لفتح حاسبة h-index التفاعلية في التطبيق.</a:t>
            </a:r>
          </a:p>
          <a:p>
            <a:r>
              <a:t>• متابعة المتدربين أثناء سحب الأشرطة: ليرى الجميع بأعينهم متى يقفز المعامل وكيف تبرز 'الورقة الذهبية' بلون أخضر مميز.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01:43 - 01:45]</a:t>
            </a:r>
          </a:p>
          <a:p>
            <a:r>
              <a:t>• ننتقل للمحطة الثالثة: كيف نجعل الأبحاث التي ننشرها تُقرأ وتُقتبس عالمياً؟</a:t>
            </a:r>
          </a:p>
          <a:p>
            <a:r>
              <a:t>• النشر وحده لا يكفي؛ العالم ينشر يومياً آلاف الأوراق، والبحث الجيد الذي لا يُرى كأنه لم يُكتب!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01:45 - 01:48]</a:t>
            </a:r>
          </a:p>
          <a:p>
            <a:r>
              <a:t>• الإشارة إلى الدعم الذي تقدمه جامعة طيبة والجامعات السعودية لاتفاقيات النشر المفتوح (Transformative Agreements) مع دور النشر مثل Springer و Wiley عبر المكتبة الرقمية السعودية (SDL).</a:t>
            </a:r>
          </a:p>
          <a:p>
            <a:r>
              <a:t>• تشجيع الباحثين على استغلال النشر المفتوح المدعوم دون دفع رسوم شخصية.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01:48 - 01:52]</a:t>
            </a:r>
          </a:p>
          <a:p>
            <a:r>
              <a:t>• ضرب أمثلة من التخصص الطبي (تقنية الأشعة والتصوير الطبي) وكيف أن العنوان الدقيق المبني على SEO يجذب استشهادات من باحثين حول العالم.</a:t>
            </a:r>
          </a:p>
          <a:p>
            <a:r>
              <a:t>• التمهيد لمختبر الذكاء الاصطناعي: كيف سيساعدنا Gemini Flash في تحسين عناوين مسوداتنا في ثوانٍ!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01:52 - 01:56]</a:t>
            </a:r>
          </a:p>
          <a:p>
            <a:r>
              <a:t>• التأكيد على أهمية المبادرة: لا تنتظر أن يطرق أحد بابك؛ الباحثون الكبار يرحبون دائماً بالأفكار الجادة والبيانات القيمة.</a:t>
            </a:r>
          </a:p>
          <a:p>
            <a:r>
              <a:t>• التنبيه على ضرورة تجنب الرسائل المعممة الباهتة (Spam) وكتابة رسائل مخصصة بدقة.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01:56 - 01:58]</a:t>
            </a:r>
          </a:p>
          <a:p>
            <a:r>
              <a:t>• ننتقل للمحطة الرابعة: الابتكار والذكاء الاصطناعي التوليدي.</a:t>
            </a:r>
          </a:p>
          <a:p>
            <a:r>
              <a:t>• الذكاء الاصطناعي أداة تمكين جبارة، ولكن سوء استخدامه قد يهدد النزاهة العلمية.</a:t>
            </a:r>
          </a:p>
          <a:p>
            <a:r>
              <a:t>• سنشاهد كيف بنينا في تطبيق الويب بيئة ذكاء اصطناعي منضبطة ومحكومة بقوالب دقيقة تخدم أهداف الباحث تماماً.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01:58 - 02:02]</a:t>
            </a:r>
          </a:p>
          <a:p>
            <a:r>
              <a:t>• توضيح فلسفة التصميم: حرصنا على حماية مفتاح الـ API والحد من أي إساءة استخدام عبر توفير قوالب محكمة.</a:t>
            </a:r>
          </a:p>
          <a:p>
            <a:r>
              <a:t>• المتدرب يركز في جوهر تخصصه دون أن يتشتت في كتابة برومبت طويل قد لا يفي بالغرض.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02:02 - 02:06]</a:t>
            </a:r>
          </a:p>
          <a:p>
            <a:r>
              <a:t>• دعوة المتدربين لفتح الأداة الأولى وتجربة إدخال عنوان بحث حقيقي يعملون عليه حالياً.</a:t>
            </a:r>
          </a:p>
          <a:p>
            <a:r>
              <a:t>• الإشارة إلى سرعة استجابة نموذج Gemini Flash وجودة الخيارات المقترحة.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02:06 - 02:10]</a:t>
            </a:r>
          </a:p>
          <a:p>
            <a:r>
              <a:t>• توضيح أن معظم أفراد المجتمع والإعلاميين لا يقرأون الأوراق البحثية المعقدة، والملخص التبسيطي هو الجسر الذي ينقل العلم من الدوريات إلى المجتمع.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02:10 - 02:14]</a:t>
            </a:r>
          </a:p>
          <a:p>
            <a:r>
              <a:t>• التأكيد على تجربة كتابة رسالة باللغة الإنجليزية عبر الأداة، وملاحظة كيف يوظف Gemini Flash المصطلحات الأكاديمية اللبقة التي تفتح الأبواب للتعاون الدولي.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02:14 - 02:18]</a:t>
            </a:r>
          </a:p>
          <a:p>
            <a:r>
              <a:t>• تشجيع الباحثين على تبني عقلية 'ما بعد القبول': النشر دون نشر ترويجي كمن يصنع دواءً ويخبئه في الخزانة!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02:18 - 02:20]</a:t>
            </a:r>
          </a:p>
          <a:p>
            <a:r>
              <a:t>• وصلنا للمحطة الختامية: تحويل كل ما تعلمناه إلى خطة عمل شخصية قابلة للتنفيذ.</a:t>
            </a:r>
          </a:p>
          <a:p>
            <a:r>
              <a:t>• ننتقل إلى شاشة إصدار التقرير والشهادة التفاعلية في تطبيق الويب.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02:20 - 02:24]</a:t>
            </a:r>
          </a:p>
          <a:p>
            <a:r>
              <a:t>• استعراض قائمة الـ 30 يوماً والتأكيد على أن تطبيق خطوة واحدة كل يومين يضمن الوصول إلى قمة الحضور الرقمي دون أي ضغط أو عناء.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02:24 - 02:27]</a:t>
            </a:r>
          </a:p>
          <a:p>
            <a:r>
              <a:t>• توجيه جميع الزملاء للضغط على 'طباعة / حفظ التقرير' ليحتفظ كل متدرب بوثيقته وخريطة طريقه الفردية.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[التوقيت المقترح: 02:27 - 02:30 | الدقائق الختامية]</a:t>
            </a:r>
          </a:p>
          <a:p>
            <a:r>
              <a:t>• توجيه خالص الشكر والتقدير لعمادة التطوير والجودة ولجميع الزملاء والزميلات على تفاعلهم البناء.</a:t>
            </a:r>
          </a:p>
          <a:p>
            <a:r>
              <a:t>• تذكيرهم بأن بناء الحضور الرقمي هو مسار مستمر يبدأ بخطوات اليوم.</a:t>
            </a:r>
          </a:p>
          <a:p>
            <a:r>
              <a:t>• فتح الباب للأسئلة الختامية وتمنياتي للجميع بمسيرة بحثية زاهرة ومؤثرة عالمياً.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FCEE-6B71-376F-052C-528EB8788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9780" y="1141024"/>
            <a:ext cx="5508171" cy="2387600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CA98F-655C-8382-3F5A-677AFF87C4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r" rtl="1"/>
            <a:r>
              <a:rPr lang="ar-SA" sz="2400" dirty="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مقدم الورشة:</a:t>
            </a:r>
          </a:p>
          <a:p>
            <a:pPr algn="r" rtl="1"/>
            <a:r>
              <a:rPr lang="ar-SA" sz="2400" dirty="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د. أحمد </a:t>
            </a:r>
            <a:r>
              <a:rPr lang="ar-SA" sz="2400" dirty="0" err="1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أحمد</a:t>
            </a:r>
            <a:r>
              <a:rPr lang="ar-SA" sz="2400" dirty="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 </a:t>
            </a:r>
            <a:r>
              <a:rPr lang="ar-SA" sz="2400" dirty="0" err="1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rPr>
              <a:t>أحمد</a:t>
            </a:r>
            <a:endParaRPr lang="LID4096" sz="2400" dirty="0">
              <a:solidFill>
                <a:schemeClr val="accent3"/>
              </a:solidFill>
              <a:latin typeface="Tosh A Medium" pitchFamily="2" charset="-78"/>
              <a:cs typeface="Tosh A Medium" pitchFamily="2" charset="-78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E960C-F372-7720-77A2-BF6480A1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FF35-159F-5D06-9037-4976480B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8262D-5F50-0359-DA85-82B34C77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4431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5693-09F0-2848-1650-1F2BFDD69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086"/>
            <a:ext cx="10515600" cy="494522"/>
          </a:xfrm>
        </p:spPr>
        <p:txBody>
          <a:bodyPr>
            <a:noAutofit/>
          </a:bodyPr>
          <a:lstStyle>
            <a:lvl1pPr algn="r" rtl="1">
              <a:defRPr sz="2800">
                <a:solidFill>
                  <a:schemeClr val="accent3"/>
                </a:solidFill>
                <a:latin typeface="Tosh A Medium" pitchFamily="2" charset="-78"/>
                <a:cs typeface="Tosh A Medium" pitchFamily="2" charset="-78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C5F21-4393-C2D8-40EA-5C3193689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1pPr>
            <a:lvl2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2pPr>
            <a:lvl3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3pPr>
            <a:lvl4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4pPr>
            <a:lvl5pPr algn="r" rtl="1">
              <a:defRPr>
                <a:solidFill>
                  <a:schemeClr val="tx2"/>
                </a:solidFill>
                <a:latin typeface="Tosh A" pitchFamily="2" charset="-78"/>
                <a:cs typeface="Tosh A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7C749-1F68-B694-AA82-A9F2643A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4EE94-ABCA-A68F-D4F0-6E21C7EA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3CD56-9655-1264-5018-1AFA1BE8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0746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22BD-1896-C02C-84AF-6A0D62BC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4FB63-77F3-4459-4449-DBC794DA2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77E21-AD27-C757-8E4D-013C822F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38C12-D6F2-34E3-E6DA-6AF468912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33002-238F-DE5F-2896-DC4C839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3581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E6A1-18E2-6D8D-7F80-B6B6235B1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CC89-55DC-452E-05FA-CA082A030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0C04A-EEC2-C9FA-EC0D-C127E6614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BF034-D067-FC05-B516-790687AB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8B5C2-B31D-DB55-9CF7-F8E48F05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19C1C-084F-B4B8-F765-7D8A5964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648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5CA97-22A8-04EB-658D-3F16BD476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964B3-0411-F4DD-9E87-D826C4B45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F510F-A714-4A30-5A38-D4E93630C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4F5FF-56B3-F671-4BB5-81C7E6385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3780107-688D-B4AF-1124-3F15B326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607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F134-4E3B-F375-E672-317832D6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C88CE-E192-B04D-0F3B-CC5003A8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B1B61-B0E8-8B3D-8029-274E1BC3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4A46A-5E03-782E-3EF9-A42A697A3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347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8648B-116A-C3C6-7475-3936B9AC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E8305-B4EB-A956-B7A1-DCDAB753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DD9D9-A433-B5AD-F9D7-C63BCC24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451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DCA56-5FE2-F983-BF43-58121B0F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C8C93-210C-94D0-99D1-599DB2254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B0864-9A9B-C6FA-CB0A-5ECE64635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821D5-69BA-648D-CA29-6587A647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92260-4B45-F226-7A69-1AEF168E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D340B-7E32-6C21-3E2B-DE92BB09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81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F5BA-0BB5-3CF6-706F-F255AD76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C6AC1-F923-0BD5-7386-36BCF6EDA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678BC-F75E-43C0-349B-3BE2E4630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8BCF-A250-EFFC-8505-42D518B2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19D71-90C2-0791-3FEF-00538E72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EFFF4-FC06-1E32-713A-65E48361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088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5277-3F8E-4916-A71B-52E88A5D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6323A-8009-F787-90E5-536C630CB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59698-2A0B-475C-EF4A-B6B94A71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0C31D-69FE-5EA1-BEE4-D0AEE814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F3FC8-86C0-4395-6905-9EC5DFEC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437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2C463-C465-F48C-69E0-5E607CE2A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BCED7-C395-12F1-1970-42A92CE2F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CD26-40B9-5FE9-1CFA-706A37B0A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85249-325B-703B-7936-055E1F13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D3B2-D66E-88DB-99E1-6FF778A3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300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091EB-BF8A-AD3F-0D67-9EAACD3F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424"/>
            <a:ext cx="10515600" cy="531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2F1C2-BF8D-8B5C-807B-A6E03289F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E0C7B-050E-7235-600A-F61EA5A7B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A7435-5E3F-4015-A999-0F3073A466C3}" type="datetimeFigureOut">
              <a:rPr lang="LID4096" smtClean="0"/>
              <a:t>09/19/2026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E63B1-03C4-9A86-EAEF-2F45C2655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A3D78-65BC-CCA5-F11C-C72C000A4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C16B1-2EC2-4F0A-AAFB-07ACADE0615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140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lang="LID4096" sz="2800" kern="1200" dirty="0">
          <a:solidFill>
            <a:schemeClr val="accent3"/>
          </a:solidFill>
          <a:latin typeface="Tosh A Medium" pitchFamily="2" charset="-78"/>
          <a:ea typeface="+mj-ea"/>
          <a:cs typeface="Tosh A Medium" pitchFamily="2" charset="-78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2673489"/>
            <a:ext cx="658368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300" b="1">
                <a:solidFill>
                  <a:srgbClr val="00C4D8"/>
                </a:solidFill>
                <a:latin typeface="Arial"/>
              </a:defRPr>
            </a:pPr>
            <a:r>
              <a:rPr dirty="0"/>
              <a:t>برنامج </a:t>
            </a:r>
            <a:r>
              <a:rPr dirty="0" err="1"/>
              <a:t>استقبال</a:t>
            </a:r>
            <a:r>
              <a:rPr dirty="0"/>
              <a:t> </a:t>
            </a:r>
            <a:r>
              <a:rPr dirty="0" err="1"/>
              <a:t>وتهيئة</a:t>
            </a:r>
            <a:r>
              <a:rPr dirty="0"/>
              <a:t> </a:t>
            </a:r>
            <a:r>
              <a:rPr dirty="0" err="1"/>
              <a:t>أعضاء</a:t>
            </a:r>
            <a:r>
              <a:rPr dirty="0"/>
              <a:t> </a:t>
            </a:r>
            <a:r>
              <a:rPr dirty="0" err="1"/>
              <a:t>هيئة</a:t>
            </a:r>
            <a:r>
              <a:rPr dirty="0"/>
              <a:t> </a:t>
            </a:r>
            <a:r>
              <a:rPr dirty="0" err="1"/>
              <a:t>التدريس</a:t>
            </a:r>
            <a:r>
              <a:rPr dirty="0"/>
              <a:t> </a:t>
            </a:r>
            <a:r>
              <a:rPr dirty="0" err="1"/>
              <a:t>الجدد</a:t>
            </a:r>
            <a:r>
              <a:rPr dirty="0"/>
              <a:t>  </a:t>
            </a:r>
            <a:r>
              <a:rPr lang="en-US" dirty="0"/>
              <a:t> </a:t>
            </a:r>
            <a:r>
              <a:rPr dirty="0"/>
              <a:t>|  البرنامج رقم 04</a:t>
            </a:r>
          </a:p>
          <a:p>
            <a:pPr algn="r" rtl="1">
              <a:spcBef>
                <a:spcPts val="8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الهوية</a:t>
            </a:r>
            <a:r>
              <a:rPr dirty="0"/>
              <a:t> </a:t>
            </a:r>
            <a:r>
              <a:rPr dirty="0" err="1"/>
              <a:t>الرقمية</a:t>
            </a:r>
            <a:r>
              <a:rPr dirty="0"/>
              <a:t> </a:t>
            </a:r>
            <a:r>
              <a:rPr dirty="0" err="1"/>
              <a:t>الأكاديمية</a:t>
            </a:r>
            <a:br>
              <a:rPr dirty="0"/>
            </a:br>
            <a:r>
              <a:rPr dirty="0" err="1"/>
              <a:t>والحضور</a:t>
            </a:r>
            <a:r>
              <a:rPr dirty="0"/>
              <a:t> </a:t>
            </a:r>
            <a:r>
              <a:rPr dirty="0" err="1"/>
              <a:t>البحثي</a:t>
            </a:r>
            <a:r>
              <a:rPr dirty="0"/>
              <a:t> </a:t>
            </a:r>
            <a:r>
              <a:rPr dirty="0" err="1"/>
              <a:t>العالمي</a:t>
            </a:r>
            <a:endParaRPr dirty="0"/>
          </a:p>
          <a:p>
            <a:pPr algn="r">
              <a:spcBef>
                <a:spcPts val="600"/>
              </a:spcBef>
              <a:defRPr sz="1600" i="1">
                <a:solidFill>
                  <a:srgbClr val="00A887"/>
                </a:solidFill>
                <a:latin typeface="Arial"/>
              </a:defRPr>
            </a:pPr>
            <a:r>
              <a:rPr dirty="0"/>
              <a:t>Academic Digital Identity &amp; Global Research Presence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78174" y="4597350"/>
            <a:ext cx="6583680" cy="1371600"/>
          </a:xfrm>
          <a:prstGeom prst="roundRect">
            <a:avLst/>
          </a:prstGeom>
          <a:solidFill>
            <a:srgbClr val="122055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r" rtl="1"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1300" b="1" dirty="0" err="1">
                <a:solidFill>
                  <a:srgbClr val="00C4D8"/>
                </a:solidFill>
                <a:latin typeface="Arial"/>
              </a:rPr>
              <a:t>تقديم</a:t>
            </a:r>
            <a:r>
              <a:rPr dirty="0"/>
              <a:t>: د. </a:t>
            </a:r>
            <a:r>
              <a:rPr dirty="0" err="1"/>
              <a:t>عزت</a:t>
            </a:r>
            <a:r>
              <a:rPr dirty="0"/>
              <a:t> </a:t>
            </a:r>
            <a:r>
              <a:rPr dirty="0" err="1"/>
              <a:t>عمر</a:t>
            </a:r>
            <a:r>
              <a:rPr dirty="0"/>
              <a:t> </a:t>
            </a:r>
            <a:r>
              <a:rPr dirty="0" err="1"/>
              <a:t>عبدالله</a:t>
            </a:r>
            <a:r>
              <a:rPr dirty="0"/>
              <a:t> أبوعزه</a:t>
            </a:r>
          </a:p>
          <a:p>
            <a:pPr algn="r" rtl="1">
              <a:spcBef>
                <a:spcPts val="300"/>
              </a:spcBef>
              <a:defRPr sz="1300">
                <a:solidFill>
                  <a:srgbClr val="00C4D8"/>
                </a:solidFill>
                <a:latin typeface="Arial"/>
              </a:defRPr>
            </a:pPr>
            <a:r>
              <a:rPr dirty="0" err="1"/>
              <a:t>أستاذ</a:t>
            </a:r>
            <a:r>
              <a:rPr dirty="0"/>
              <a:t> </a:t>
            </a:r>
            <a:r>
              <a:rPr dirty="0" err="1"/>
              <a:t>مساعد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قسم </a:t>
            </a:r>
            <a:r>
              <a:rPr dirty="0" err="1"/>
              <a:t>تقنية</a:t>
            </a:r>
            <a:r>
              <a:rPr dirty="0"/>
              <a:t> الأشعة - كلية العلوم الطبية التطبيقية</a:t>
            </a:r>
          </a:p>
          <a:p>
            <a:pPr algn="r" rtl="1"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rPr dirty="0"/>
              <a:t>جامعة طيبة  |  </a:t>
            </a:r>
            <a:r>
              <a:rPr dirty="0" err="1"/>
              <a:t>الفصل</a:t>
            </a:r>
            <a:r>
              <a:rPr dirty="0"/>
              <a:t> </a:t>
            </a:r>
            <a:r>
              <a:rPr dirty="0" err="1"/>
              <a:t>الدراسي</a:t>
            </a:r>
            <a:r>
              <a:rPr dirty="0"/>
              <a:t> </a:t>
            </a:r>
            <a:r>
              <a:rPr dirty="0" err="1"/>
              <a:t>الثاني</a:t>
            </a:r>
            <a:r>
              <a:rPr dirty="0"/>
              <a:t> 1448هـ - 2026م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rPr dirty="0" err="1"/>
              <a:t>بطاقة</a:t>
            </a:r>
            <a:r>
              <a:rPr dirty="0"/>
              <a:t> </a:t>
            </a:r>
            <a:r>
              <a:rPr dirty="0" err="1"/>
              <a:t>وصف</a:t>
            </a:r>
            <a:r>
              <a:rPr dirty="0"/>
              <a:t> البرنامج </a:t>
            </a:r>
            <a:r>
              <a:rPr dirty="0" err="1"/>
              <a:t>التدريبي</a:t>
            </a:r>
            <a:r>
              <a:rPr dirty="0"/>
              <a:t> </a:t>
            </a:r>
            <a:r>
              <a:rPr dirty="0" err="1"/>
              <a:t>والمخرجات</a:t>
            </a:r>
            <a:r>
              <a:rPr dirty="0"/>
              <a:t> </a:t>
            </a:r>
            <a:r>
              <a:rPr dirty="0" err="1"/>
              <a:t>الرئيسية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02920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 rtl="1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rPr dirty="0" err="1"/>
              <a:t>البيانات</a:t>
            </a:r>
            <a:r>
              <a:rPr dirty="0"/>
              <a:t> العامة </a:t>
            </a:r>
            <a:r>
              <a:rPr dirty="0" err="1"/>
              <a:t>بطاقة</a:t>
            </a:r>
            <a:r>
              <a:rPr dirty="0"/>
              <a:t> البرنامج </a:t>
            </a:r>
            <a:r>
              <a:rPr dirty="0" err="1"/>
              <a:t>المعتمدة</a:t>
            </a:r>
            <a:r>
              <a:rPr dirty="0"/>
              <a:t> 1448هـ</a:t>
            </a:r>
            <a:br>
              <a:rPr lang="en-US" dirty="0"/>
            </a:br>
            <a:endParaRPr lang="ar-SA" dirty="0"/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lang="ar-SA" dirty="0"/>
              <a:t>الجهة المشرفة: إدارة التدريب والتطوير الأكاديمي - عمادة التطوير والجودة.</a:t>
            </a:r>
            <a:endParaRPr lang="en-US" dirty="0"/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الجدارة</a:t>
            </a:r>
            <a:r>
              <a:rPr dirty="0"/>
              <a:t> </a:t>
            </a:r>
            <a:r>
              <a:rPr dirty="0" err="1"/>
              <a:t>المستهدفة</a:t>
            </a:r>
            <a:r>
              <a:rPr dirty="0"/>
              <a:t>: التقنية </a:t>
            </a:r>
            <a:r>
              <a:rPr dirty="0" err="1"/>
              <a:t>والتحول</a:t>
            </a:r>
            <a:r>
              <a:rPr dirty="0"/>
              <a:t> </a:t>
            </a:r>
            <a:r>
              <a:rPr dirty="0" err="1"/>
              <a:t>الرقمي</a:t>
            </a:r>
            <a:r>
              <a:rPr dirty="0"/>
              <a:t>.</a:t>
            </a:r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الفئة</a:t>
            </a:r>
            <a:r>
              <a:rPr dirty="0"/>
              <a:t> </a:t>
            </a:r>
            <a:r>
              <a:rPr dirty="0" err="1"/>
              <a:t>المستفيدة</a:t>
            </a:r>
            <a:r>
              <a:rPr dirty="0"/>
              <a:t>: </a:t>
            </a:r>
            <a:r>
              <a:rPr dirty="0" err="1"/>
              <a:t>جميع</a:t>
            </a:r>
            <a:r>
              <a:rPr dirty="0"/>
              <a:t> </a:t>
            </a:r>
            <a:r>
              <a:rPr dirty="0" err="1"/>
              <a:t>أعضاء</a:t>
            </a:r>
            <a:r>
              <a:rPr dirty="0"/>
              <a:t> </a:t>
            </a:r>
            <a:r>
              <a:rPr dirty="0" err="1"/>
              <a:t>هيئة</a:t>
            </a:r>
            <a:r>
              <a:rPr dirty="0"/>
              <a:t> </a:t>
            </a:r>
            <a:r>
              <a:rPr dirty="0" err="1"/>
              <a:t>التدريس</a:t>
            </a:r>
            <a:r>
              <a:rPr dirty="0"/>
              <a:t> </a:t>
            </a:r>
            <a:r>
              <a:rPr dirty="0" err="1"/>
              <a:t>والباحثين</a:t>
            </a:r>
            <a:r>
              <a:rPr dirty="0"/>
              <a:t> </a:t>
            </a:r>
            <a:r>
              <a:rPr dirty="0" err="1"/>
              <a:t>بجامعة</a:t>
            </a:r>
            <a:r>
              <a:rPr dirty="0"/>
              <a:t> طيبة.</a:t>
            </a:r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نمط</a:t>
            </a:r>
            <a:r>
              <a:rPr dirty="0"/>
              <a:t> </a:t>
            </a:r>
            <a:r>
              <a:rPr dirty="0" err="1"/>
              <a:t>التقديم</a:t>
            </a:r>
            <a:r>
              <a:rPr dirty="0"/>
              <a:t> </a:t>
            </a:r>
            <a:r>
              <a:rPr dirty="0" err="1"/>
              <a:t>والمدة</a:t>
            </a:r>
            <a:r>
              <a:rPr dirty="0"/>
              <a:t>: </a:t>
            </a:r>
            <a:r>
              <a:rPr dirty="0" err="1"/>
              <a:t>ورشة</a:t>
            </a:r>
            <a:r>
              <a:rPr dirty="0"/>
              <a:t> </a:t>
            </a:r>
            <a:r>
              <a:rPr dirty="0" err="1"/>
              <a:t>عمل</a:t>
            </a:r>
            <a:r>
              <a:rPr dirty="0"/>
              <a:t> </a:t>
            </a:r>
            <a:r>
              <a:rPr dirty="0" err="1"/>
              <a:t>تفاعلية</a:t>
            </a:r>
            <a:r>
              <a:rPr dirty="0"/>
              <a:t> </a:t>
            </a:r>
            <a:r>
              <a:rPr dirty="0" err="1"/>
              <a:t>مكثفة</a:t>
            </a:r>
            <a:r>
              <a:rPr dirty="0"/>
              <a:t> </a:t>
            </a:r>
            <a:r>
              <a:rPr dirty="0" err="1"/>
              <a:t>مدتها</a:t>
            </a:r>
            <a:r>
              <a:rPr dirty="0"/>
              <a:t> 90دقيقة</a:t>
            </a:r>
            <a:r>
              <a:rPr lang="en-US" dirty="0"/>
              <a:t> </a:t>
            </a:r>
            <a:r>
              <a:rPr lang="ar-SA" dirty="0"/>
              <a:t>ع</a:t>
            </a:r>
            <a:r>
              <a:rPr dirty="0"/>
              <a:t>ن </a:t>
            </a:r>
            <a:r>
              <a:rPr dirty="0" err="1"/>
              <a:t>بعد</a:t>
            </a:r>
            <a:endParaRPr dirty="0"/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الرقم</a:t>
            </a:r>
            <a:r>
              <a:rPr dirty="0"/>
              <a:t> </a:t>
            </a:r>
            <a:r>
              <a:rPr dirty="0" err="1"/>
              <a:t>المرجعي</a:t>
            </a:r>
            <a:r>
              <a:rPr dirty="0"/>
              <a:t> </a:t>
            </a:r>
            <a:r>
              <a:rPr dirty="0" err="1"/>
              <a:t>للبرنامج</a:t>
            </a:r>
            <a:r>
              <a:rPr dirty="0"/>
              <a:t>: </a:t>
            </a:r>
            <a:r>
              <a:rPr dirty="0" err="1"/>
              <a:t>الدورة</a:t>
            </a:r>
            <a:r>
              <a:rPr dirty="0"/>
              <a:t> </a:t>
            </a:r>
            <a:r>
              <a:rPr dirty="0" err="1"/>
              <a:t>التدريبية</a:t>
            </a:r>
            <a:r>
              <a:rPr dirty="0"/>
              <a:t> رقم 04.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 rtl="1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rPr dirty="0" err="1"/>
              <a:t>المخرجات</a:t>
            </a:r>
            <a:r>
              <a:rPr dirty="0"/>
              <a:t> </a:t>
            </a:r>
            <a:r>
              <a:rPr dirty="0" err="1"/>
              <a:t>التعليمية</a:t>
            </a:r>
            <a:r>
              <a:rPr dirty="0"/>
              <a:t> </a:t>
            </a:r>
            <a:r>
              <a:rPr dirty="0" err="1"/>
              <a:t>المستهدفة</a:t>
            </a:r>
            <a:r>
              <a:rPr dirty="0"/>
              <a:t> (KLOs)</a:t>
            </a:r>
            <a:br>
              <a:rPr lang="en-US" dirty="0"/>
            </a:br>
            <a:endParaRPr dirty="0"/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بناء</a:t>
            </a:r>
            <a:r>
              <a:rPr dirty="0"/>
              <a:t> </a:t>
            </a:r>
            <a:r>
              <a:rPr dirty="0" err="1"/>
              <a:t>وإدارة</a:t>
            </a:r>
            <a:r>
              <a:rPr dirty="0"/>
              <a:t> </a:t>
            </a:r>
            <a:r>
              <a:rPr dirty="0" err="1"/>
              <a:t>المعرفات</a:t>
            </a:r>
            <a:r>
              <a:rPr dirty="0"/>
              <a:t> </a:t>
            </a:r>
            <a:r>
              <a:rPr dirty="0" err="1"/>
              <a:t>الأكاديمية</a:t>
            </a:r>
            <a:r>
              <a:rPr dirty="0"/>
              <a:t> </a:t>
            </a:r>
            <a:r>
              <a:rPr dirty="0" err="1"/>
              <a:t>العالمية</a:t>
            </a:r>
            <a:r>
              <a:rPr dirty="0"/>
              <a:t> </a:t>
            </a:r>
            <a:r>
              <a:rPr dirty="0" err="1"/>
              <a:t>بدقة</a:t>
            </a:r>
            <a:r>
              <a:rPr dirty="0"/>
              <a:t> (ORCID, Scholar, ResearchGate, Scopus).</a:t>
            </a:r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فهم</a:t>
            </a:r>
            <a:r>
              <a:rPr dirty="0"/>
              <a:t> </a:t>
            </a:r>
            <a:r>
              <a:rPr dirty="0" err="1"/>
              <a:t>وتفكيك</a:t>
            </a:r>
            <a:r>
              <a:rPr dirty="0"/>
              <a:t> </a:t>
            </a:r>
            <a:r>
              <a:rPr dirty="0" err="1"/>
              <a:t>مؤشرات</a:t>
            </a:r>
            <a:r>
              <a:rPr dirty="0"/>
              <a:t> </a:t>
            </a:r>
            <a:r>
              <a:rPr dirty="0" err="1"/>
              <a:t>الأثر</a:t>
            </a:r>
            <a:r>
              <a:rPr dirty="0"/>
              <a:t> </a:t>
            </a:r>
            <a:r>
              <a:rPr dirty="0" err="1"/>
              <a:t>البحثي</a:t>
            </a:r>
            <a:r>
              <a:rPr dirty="0"/>
              <a:t> (h-index, citations, FWCI, </a:t>
            </a:r>
            <a:r>
              <a:rPr dirty="0" err="1"/>
              <a:t>Altmetrics</a:t>
            </a:r>
            <a:r>
              <a:rPr dirty="0"/>
              <a:t>).</a:t>
            </a:r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تطبيق</a:t>
            </a:r>
            <a:r>
              <a:rPr dirty="0"/>
              <a:t> </a:t>
            </a:r>
            <a:r>
              <a:rPr dirty="0" err="1"/>
              <a:t>استراتيجيات</a:t>
            </a:r>
            <a:r>
              <a:rPr dirty="0"/>
              <a:t> </a:t>
            </a:r>
            <a:r>
              <a:rPr dirty="0" err="1"/>
              <a:t>عملية</a:t>
            </a:r>
            <a:r>
              <a:rPr dirty="0"/>
              <a:t> </a:t>
            </a:r>
            <a:r>
              <a:rPr dirty="0" err="1"/>
              <a:t>لمضاعفة</a:t>
            </a:r>
            <a:r>
              <a:rPr dirty="0"/>
              <a:t> </a:t>
            </a:r>
            <a:r>
              <a:rPr dirty="0" err="1"/>
              <a:t>الاستشهاد</a:t>
            </a:r>
            <a:r>
              <a:rPr dirty="0"/>
              <a:t> </a:t>
            </a:r>
            <a:r>
              <a:rPr dirty="0" err="1"/>
              <a:t>بالأوراق</a:t>
            </a:r>
            <a:r>
              <a:rPr dirty="0"/>
              <a:t> </a:t>
            </a:r>
            <a:r>
              <a:rPr dirty="0" err="1"/>
              <a:t>البحثية</a:t>
            </a:r>
            <a:r>
              <a:rPr dirty="0"/>
              <a:t> (Academic SEO).</a:t>
            </a:r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بناء</a:t>
            </a:r>
            <a:r>
              <a:rPr dirty="0"/>
              <a:t> </a:t>
            </a:r>
            <a:r>
              <a:rPr dirty="0" err="1"/>
              <a:t>شبكة</a:t>
            </a:r>
            <a:r>
              <a:rPr dirty="0"/>
              <a:t> </a:t>
            </a:r>
            <a:r>
              <a:rPr dirty="0" err="1"/>
              <a:t>تعاون</a:t>
            </a:r>
            <a:r>
              <a:rPr dirty="0"/>
              <a:t> </a:t>
            </a:r>
            <a:r>
              <a:rPr dirty="0" err="1"/>
              <a:t>بحثي</a:t>
            </a:r>
            <a:r>
              <a:rPr dirty="0"/>
              <a:t> </a:t>
            </a:r>
            <a:r>
              <a:rPr dirty="0" err="1"/>
              <a:t>دولية</a:t>
            </a:r>
            <a:r>
              <a:rPr dirty="0"/>
              <a:t> </a:t>
            </a:r>
            <a:r>
              <a:rPr dirty="0" err="1"/>
              <a:t>رقمياً</a:t>
            </a:r>
            <a:r>
              <a:rPr dirty="0"/>
              <a:t> </a:t>
            </a:r>
            <a:r>
              <a:rPr dirty="0" err="1"/>
              <a:t>لتعزيز</a:t>
            </a:r>
            <a:r>
              <a:rPr dirty="0"/>
              <a:t> </a:t>
            </a:r>
            <a:r>
              <a:rPr dirty="0" err="1"/>
              <a:t>مكانة</a:t>
            </a:r>
            <a:r>
              <a:rPr dirty="0"/>
              <a:t> جامعة طيبة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التصنيفات</a:t>
            </a:r>
            <a:r>
              <a:rPr dirty="0"/>
              <a:t> </a:t>
            </a:r>
            <a:r>
              <a:rPr dirty="0" err="1"/>
              <a:t>العالمية</a:t>
            </a:r>
            <a:r>
              <a:rPr dirty="0"/>
              <a:t>.</a:t>
            </a:r>
          </a:p>
          <a:p>
            <a:pPr marL="171450" indent="-171450" algn="r" rtl="1">
              <a:spcAft>
                <a:spcPts val="500"/>
              </a:spcAft>
              <a:buFont typeface="Arial" panose="020B0604020202020204" pitchFamily="34" charset="0"/>
              <a:buChar char="•"/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 err="1"/>
              <a:t>توظيف</a:t>
            </a:r>
            <a:r>
              <a:rPr dirty="0"/>
              <a:t> </a:t>
            </a:r>
            <a:r>
              <a:rPr dirty="0" err="1"/>
              <a:t>أدوات</a:t>
            </a:r>
            <a:r>
              <a:rPr dirty="0"/>
              <a:t> </a:t>
            </a:r>
            <a:r>
              <a:rPr dirty="0" err="1"/>
              <a:t>الذكاء</a:t>
            </a:r>
            <a:r>
              <a:rPr dirty="0"/>
              <a:t> </a:t>
            </a:r>
            <a:r>
              <a:rPr dirty="0" err="1"/>
              <a:t>الاصطناعي</a:t>
            </a:r>
            <a:r>
              <a:rPr dirty="0"/>
              <a:t> </a:t>
            </a:r>
            <a:r>
              <a:rPr dirty="0" err="1"/>
              <a:t>التوليدي</a:t>
            </a:r>
            <a:r>
              <a:rPr dirty="0"/>
              <a:t> </a:t>
            </a:r>
            <a:r>
              <a:rPr dirty="0" err="1"/>
              <a:t>المنضبط</a:t>
            </a:r>
            <a:r>
              <a:rPr dirty="0"/>
              <a:t> </a:t>
            </a:r>
            <a:r>
              <a:rPr dirty="0" err="1"/>
              <a:t>بأوامر</a:t>
            </a:r>
            <a:r>
              <a:rPr dirty="0"/>
              <a:t> </a:t>
            </a:r>
            <a:r>
              <a:rPr dirty="0" err="1"/>
              <a:t>موجهة</a:t>
            </a:r>
            <a:r>
              <a:rPr dirty="0"/>
              <a:t> </a:t>
            </a:r>
            <a:r>
              <a:rPr dirty="0" err="1"/>
              <a:t>مقيدة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خارطة الطريق الزمنية (90 دقيقة) وميثاق الورشة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463040"/>
            <a:ext cx="548640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[الجدول الزمني]  الجدول الزمني الموزع للورشة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00:00 - 00:15 (15 د): المدخل الاستراتيجي وأزمة تشابه الأسماء + تقييم النضج.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00:15 - 00:45 (30 د): المنصات الأربع الكبرى (ORCID, Scholar, RG, Scopus) ومحاكاتها.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00:45 - 01:05 (20 د): فك شفرة مؤشرات الأثر (h-index, FWCI) والمختبر التفاعلي.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01:05 - 01:25 (20 د): استراتيجيات الاستشهاد ومختبر الذكاء الاصطناعي المنضبط.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01:25 - 01:30 (05 د): خطة العمل الشخصية والتقييم الختامي.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[ميثاق التعلم]  ميثاق الورشة والتطبيق التفاعلي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استخدام تطبيق الويب التفاعلي المخصص للورشة المتاح على خادم الـ VPS.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لا يشترط وجود حسابات مسبقة على المنصات أثناء الورشة؛ سنوفر محاكاة افتراضية شاملة.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استخدام الذكاء الاصطناعي يتم عبر قوالب موجهة مقيدة (Fill-in-the-blanks) لضمان النزاهة وحسن الاستخدام.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التفاعل المباشر عبر المحادثة وطرح الأسئلة في نهايات المحطات التدريبية.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كل متدرب سيغادر الورشة وبيده خطة عمل فردية مطبوعة ومحكمة.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النشاط الافتتاحي: مقياس النضج الرقمي للباحث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[نشاط تطبيقي - 5 دقائق]  أين تقف هويتك الرقمية الأكاديمية الآن؟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توجه الآن إلى تطبيق الويب واختر تبويب: [مقياس النضج الرقمي].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أجب عن 10 أسئلة تشخيصية سريعة بنعم أو لا.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التقييم يشمل: توثيق البريد الجامعي، اكتمال ملف ORCID، دمج ملفات Scopus، وممارسات النشر المفتوح.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ستحصل على نتيجة فورية بنسبة مئوية ومستوى تصنيفي من 4 مستويات: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1. باحث مبتدئ رقمياً (&lt; 40%)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2. باحث ناشئ (40% - 69%)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3. باحث متميز ومكتمل الحضور (70% - 89%)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4. رائد بحثي عالمي متصل (≥ 90%)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[القيمة المضافة]  لماذا نقيس نضج الهوية الرقمية؟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الوعي بنقاط الضعف: كثير من الباحثين لديهم أبحاث مميزة لكنها غير مفهرسة لصالحهم!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تحديد الفجوة: هل هويتك الرقمية تخدم نقلك وترقيتك وتصنيف جامعتك؟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إصدار التقرير: بنهاية الورشة ستتحول نتيجتك هذه إلى خطة تصحيحية عملية ومخصصة.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الهدف اليوم: نقل كل متدرب خطوتين إلى الأمام في مؤشر النضج الرقمي.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معضلة تشابه الأسماء وضياع الاستشهادات في النشر الدولي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C2626"/>
                </a:solidFill>
                <a:latin typeface="Arial"/>
              </a:defRPr>
            </a:pPr>
            <a:r>
              <a:t>[المعضلة الشائعة]  كيف تضيع أبحاثك في قواعد البيانات؟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تعدد الصيغ اللاتينية للاسم العربي الواحد: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مثال: Aboazza, M. / Abu Azza, M. O. / Abo-Azza, Mohammad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تشتت الأبحاث بين ملفات متعددة غير مترابطة.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تشابه الأسماء الشائعة (Name Homonyms):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آلاف الباحثين يحملون أسماء مثل: M. Khan أو A. Al-Ghamdi أو M. Ali.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تغير جهة الانتساب الأكاديمي (Institutional Mobility):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انتقال الباحث من مرحلة الابتعاث أو جامعة أخرى إلى جامعة طيبة.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النتيجة الحتمية: انقسام الاستشهادات، انخفاض معامل h-index، وضياع حقوق الباحث والجامعة!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rPr dirty="0"/>
              <a:t>[</a:t>
            </a:r>
            <a:r>
              <a:rPr dirty="0" err="1"/>
              <a:t>الحل</a:t>
            </a:r>
            <a:r>
              <a:rPr dirty="0"/>
              <a:t> </a:t>
            </a:r>
            <a:r>
              <a:rPr dirty="0" err="1"/>
              <a:t>العلمي</a:t>
            </a:r>
            <a:r>
              <a:rPr dirty="0"/>
              <a:t>]  </a:t>
            </a:r>
            <a:r>
              <a:rPr dirty="0" err="1"/>
              <a:t>الحل</a:t>
            </a:r>
            <a:r>
              <a:rPr dirty="0"/>
              <a:t> </a:t>
            </a:r>
            <a:r>
              <a:rPr dirty="0" err="1"/>
              <a:t>الجذري</a:t>
            </a:r>
            <a:r>
              <a:rPr dirty="0"/>
              <a:t>: </a:t>
            </a:r>
            <a:r>
              <a:rPr dirty="0" err="1"/>
              <a:t>المعرفات</a:t>
            </a:r>
            <a:r>
              <a:rPr dirty="0"/>
              <a:t> </a:t>
            </a:r>
            <a:r>
              <a:rPr dirty="0" err="1"/>
              <a:t>الرقمية</a:t>
            </a:r>
            <a:r>
              <a:rPr dirty="0"/>
              <a:t> </a:t>
            </a:r>
            <a:r>
              <a:rPr dirty="0" err="1"/>
              <a:t>الدائمة</a:t>
            </a:r>
            <a:r>
              <a:rPr dirty="0"/>
              <a:t> (PIDs)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المعرف</a:t>
            </a:r>
            <a:r>
              <a:rPr dirty="0"/>
              <a:t> </a:t>
            </a:r>
            <a:r>
              <a:rPr dirty="0" err="1"/>
              <a:t>الرقمي</a:t>
            </a:r>
            <a:r>
              <a:rPr dirty="0"/>
              <a:t> </a:t>
            </a:r>
            <a:r>
              <a:rPr dirty="0" err="1"/>
              <a:t>الدائم</a:t>
            </a:r>
            <a:r>
              <a:rPr dirty="0"/>
              <a:t> (Persistent Identifier): رقم </a:t>
            </a:r>
            <a:r>
              <a:rPr dirty="0" err="1"/>
              <a:t>فريد</a:t>
            </a:r>
            <a:r>
              <a:rPr dirty="0"/>
              <a:t> </a:t>
            </a:r>
            <a:r>
              <a:rPr dirty="0" err="1"/>
              <a:t>عالمي</a:t>
            </a:r>
            <a:r>
              <a:rPr dirty="0"/>
              <a:t> </a:t>
            </a:r>
            <a:r>
              <a:rPr dirty="0" err="1"/>
              <a:t>غير</a:t>
            </a:r>
            <a:r>
              <a:rPr dirty="0"/>
              <a:t> </a:t>
            </a:r>
            <a:r>
              <a:rPr dirty="0" err="1"/>
              <a:t>قابل</a:t>
            </a:r>
            <a:r>
              <a:rPr dirty="0"/>
              <a:t> </a:t>
            </a:r>
            <a:r>
              <a:rPr dirty="0" err="1"/>
              <a:t>للتكرار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مثل</a:t>
            </a:r>
            <a:r>
              <a:rPr dirty="0"/>
              <a:t> رقم </a:t>
            </a:r>
            <a:r>
              <a:rPr dirty="0" err="1"/>
              <a:t>الهوية</a:t>
            </a:r>
            <a:r>
              <a:rPr dirty="0"/>
              <a:t> </a:t>
            </a:r>
            <a:r>
              <a:rPr dirty="0" err="1"/>
              <a:t>الوطنية</a:t>
            </a:r>
            <a:r>
              <a:rPr dirty="0"/>
              <a:t> </a:t>
            </a:r>
            <a:r>
              <a:rPr dirty="0" err="1"/>
              <a:t>تماماً</a:t>
            </a:r>
            <a:r>
              <a:rPr dirty="0"/>
              <a:t>، </a:t>
            </a:r>
            <a:r>
              <a:rPr dirty="0" err="1"/>
              <a:t>ولكن</a:t>
            </a:r>
            <a:r>
              <a:rPr dirty="0"/>
              <a:t> </a:t>
            </a:r>
            <a:r>
              <a:rPr dirty="0" err="1"/>
              <a:t>للباحث</a:t>
            </a:r>
            <a:r>
              <a:rPr dirty="0"/>
              <a:t> </a:t>
            </a:r>
            <a:r>
              <a:rPr dirty="0" err="1"/>
              <a:t>وإنتاجه</a:t>
            </a:r>
            <a:r>
              <a:rPr dirty="0"/>
              <a:t> </a:t>
            </a:r>
            <a:r>
              <a:rPr dirty="0" err="1"/>
              <a:t>العلمي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يربط</a:t>
            </a:r>
            <a:r>
              <a:rPr dirty="0"/>
              <a:t> </a:t>
            </a:r>
            <a:r>
              <a:rPr dirty="0" err="1"/>
              <a:t>جميع</a:t>
            </a:r>
            <a:r>
              <a:rPr dirty="0"/>
              <a:t> </a:t>
            </a:r>
            <a:r>
              <a:rPr dirty="0" err="1"/>
              <a:t>تنويعات</a:t>
            </a:r>
            <a:r>
              <a:rPr dirty="0"/>
              <a:t> </a:t>
            </a:r>
            <a:r>
              <a:rPr dirty="0" err="1"/>
              <a:t>اسمك</a:t>
            </a:r>
            <a:r>
              <a:rPr dirty="0"/>
              <a:t> </a:t>
            </a:r>
            <a:r>
              <a:rPr dirty="0" err="1"/>
              <a:t>بكيان</a:t>
            </a:r>
            <a:r>
              <a:rPr dirty="0"/>
              <a:t> </a:t>
            </a:r>
            <a:r>
              <a:rPr dirty="0" err="1"/>
              <a:t>رقمي</a:t>
            </a:r>
            <a:r>
              <a:rPr dirty="0"/>
              <a:t> </a:t>
            </a:r>
            <a:r>
              <a:rPr dirty="0" err="1"/>
              <a:t>واحد</a:t>
            </a:r>
            <a:r>
              <a:rPr dirty="0"/>
              <a:t> </a:t>
            </a:r>
            <a:r>
              <a:rPr dirty="0" err="1"/>
              <a:t>مدى</a:t>
            </a:r>
            <a:r>
              <a:rPr dirty="0"/>
              <a:t> </a:t>
            </a:r>
            <a:r>
              <a:rPr dirty="0" err="1"/>
              <a:t>الحياة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يضمن</a:t>
            </a:r>
            <a:r>
              <a:rPr dirty="0"/>
              <a:t> </a:t>
            </a:r>
            <a:r>
              <a:rPr dirty="0" err="1"/>
              <a:t>بقاء</a:t>
            </a:r>
            <a:r>
              <a:rPr dirty="0"/>
              <a:t> </a:t>
            </a:r>
            <a:r>
              <a:rPr dirty="0" err="1"/>
              <a:t>أبحاثك</a:t>
            </a:r>
            <a:r>
              <a:rPr dirty="0"/>
              <a:t> </a:t>
            </a:r>
            <a:r>
              <a:rPr dirty="0" err="1"/>
              <a:t>منسوبة</a:t>
            </a:r>
            <a:r>
              <a:rPr dirty="0"/>
              <a:t> </a:t>
            </a:r>
            <a:r>
              <a:rPr dirty="0" err="1"/>
              <a:t>لك</a:t>
            </a:r>
            <a:r>
              <a:rPr dirty="0"/>
              <a:t> </a:t>
            </a:r>
            <a:r>
              <a:rPr dirty="0" err="1"/>
              <a:t>مهما</a:t>
            </a:r>
            <a:r>
              <a:rPr dirty="0"/>
              <a:t> </a:t>
            </a:r>
            <a:r>
              <a:rPr dirty="0" err="1"/>
              <a:t>تغيرت</a:t>
            </a:r>
            <a:r>
              <a:rPr dirty="0"/>
              <a:t> </a:t>
            </a:r>
            <a:r>
              <a:rPr dirty="0" err="1"/>
              <a:t>جامعتك</a:t>
            </a:r>
            <a:r>
              <a:rPr dirty="0"/>
              <a:t> </a:t>
            </a:r>
            <a:r>
              <a:rPr dirty="0" err="1"/>
              <a:t>أو</a:t>
            </a:r>
            <a:r>
              <a:rPr dirty="0"/>
              <a:t> </a:t>
            </a:r>
            <a:r>
              <a:rPr dirty="0" err="1"/>
              <a:t>طريقة</a:t>
            </a:r>
            <a:r>
              <a:rPr dirty="0"/>
              <a:t> </a:t>
            </a:r>
            <a:r>
              <a:rPr dirty="0" err="1"/>
              <a:t>كتابة</a:t>
            </a:r>
            <a:r>
              <a:rPr dirty="0"/>
              <a:t> </a:t>
            </a:r>
            <a:r>
              <a:rPr dirty="0" err="1"/>
              <a:t>اسمك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المجلات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يربط</a:t>
            </a:r>
            <a:r>
              <a:rPr dirty="0"/>
              <a:t> </a:t>
            </a:r>
            <a:r>
              <a:rPr dirty="0" err="1"/>
              <a:t>استشهاداتك</a:t>
            </a:r>
            <a:r>
              <a:rPr dirty="0"/>
              <a:t> </a:t>
            </a:r>
            <a:r>
              <a:rPr dirty="0" err="1"/>
              <a:t>تلقائياً</a:t>
            </a:r>
            <a:r>
              <a:rPr dirty="0"/>
              <a:t> </a:t>
            </a:r>
            <a:r>
              <a:rPr dirty="0" err="1"/>
              <a:t>بجامعة</a:t>
            </a:r>
            <a:r>
              <a:rPr dirty="0"/>
              <a:t> طيبة </a:t>
            </a:r>
            <a:r>
              <a:rPr dirty="0" err="1"/>
              <a:t>ويدعم</a:t>
            </a:r>
            <a:r>
              <a:rPr dirty="0"/>
              <a:t> </a:t>
            </a:r>
            <a:r>
              <a:rPr dirty="0" err="1"/>
              <a:t>مؤشرات</a:t>
            </a:r>
            <a:r>
              <a:rPr dirty="0"/>
              <a:t> </a:t>
            </a:r>
            <a:r>
              <a:rPr dirty="0" err="1"/>
              <a:t>أدائها</a:t>
            </a:r>
            <a:r>
              <a:rPr dirty="0"/>
              <a:t> </a:t>
            </a:r>
            <a:r>
              <a:rPr dirty="0" err="1"/>
              <a:t>المؤسسي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أثر الهوية الرقمية في تصنيف جامعة طيبة ورؤية 2030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[التصنيفات الدولية]  كيف تنظر التصنيفات العالمية لأبحاثك؟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تصنيف QS وتصنيف THE وتصنيف شنغهاي (ARWU) تعتمد بنسبة تفوق 30% إلى 60% على: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حجم الإنتاج البحثي المفهرس باسم الجامعة (Indexed Publications).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عدد الاستشهادات لكل عضو هيئة تدريس (Citations per Faculty).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التعاون البحثي الدولي (International Research Network - IRN).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إذا نشرت بحثاً دون كتابة انتساب جامعة طيبة بالصيغة القياسية المعتمدة، فلن يُحسب للجامعة نهائياً!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الصيغة الرسمية المعتمدة: Taibah University, Medina, Saudi Arabia.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[رؤية 2030]  مستهدفات رؤية 2030 وجامعة طيبة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الارتقاء بالجامعات السعودية ضمن أفضل 200 جامعة عالمياً.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رفع كفاءة الإنفاق البحثي وتعظيم أثر النشر العلمي النوعي.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كل استشهاد يحصده بحثك هو نقطة إضافية في رصيد جامعة طيبة عالمياً.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إبراز الهوية الرقمية لأعضاء هيئة التدريس يرفع السمعة الأكاديمية (Academic Reputation) واستقطاب الشراكات.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عضو هيئة التدريس هو السفير الرقمي الأول للجامعة في الساحة البحثية العالمية.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0" y="1645920"/>
            <a:ext cx="3959352" cy="502920"/>
          </a:xfrm>
          <a:prstGeom prst="roundRect">
            <a:avLst/>
          </a:prstGeom>
          <a:solidFill>
            <a:srgbClr val="122A6B"/>
          </a:solidFill>
          <a:ln w="15240">
            <a:solidFill>
              <a:srgbClr val="0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D8"/>
                </a:solidFill>
                <a:latin typeface="Arial"/>
              </a:defRPr>
            </a:pPr>
            <a:r>
              <a:t>المحطة التدريبية 01  |  الزمن المتوقع: 30 دقيقة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المحطة الأولى: المنصات الأربع الكبرى لإدارة الهوية الرقمية</a:t>
            </a:r>
          </a:p>
          <a:p>
            <a:pPr algn="ctr">
              <a:spcBef>
                <a:spcPts val="1000"/>
              </a:spcBef>
              <a:defRPr sz="1800" b="0">
                <a:solidFill>
                  <a:srgbClr val="00C4D8"/>
                </a:solidFill>
                <a:latin typeface="Arial"/>
              </a:defRPr>
            </a:pPr>
            <a:r>
              <a:t>ORCID • Google Scholar • ResearchGate • Scopus Author 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114800"/>
            <a:ext cx="8165592" cy="1371600"/>
          </a:xfrm>
          <a:prstGeom prst="roundRect">
            <a:avLst/>
          </a:prstGeom>
          <a:solidFill>
            <a:srgbClr val="122055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r">
              <a:spcAft>
                <a:spcPts val="600"/>
              </a:spcAft>
              <a:defRPr sz="1300" b="1">
                <a:solidFill>
                  <a:srgbClr val="00A887"/>
                </a:solidFill>
              </a:defRPr>
            </a:pPr>
            <a:r>
              <a:t>الأهداف والمخرجات المباشرة لهذه المحطة: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بناء وضبط معرف ORCID وربط الأبحاث والانتماء الرسمي لجامعة طيبة.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توثيق حساب Google Scholar وتنظيفه ودمج النسخ المكررة للبحث.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إدارة ملف ResearchGate ومراعاة حقوق النشر وسياسات الوصول المفتوح.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فحص وتصحيح ملفات Scopus و Clarivate ودمج الحسابات المنقسمة.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منصة ORCID: المعرف الرقمي المفتوح الشامل للباحثين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rPr dirty="0"/>
              <a:t>[</a:t>
            </a:r>
            <a:r>
              <a:rPr dirty="0" err="1"/>
              <a:t>الهوية</a:t>
            </a:r>
            <a:r>
              <a:rPr dirty="0"/>
              <a:t> </a:t>
            </a:r>
            <a:r>
              <a:rPr dirty="0" err="1"/>
              <a:t>الدائمة</a:t>
            </a:r>
            <a:r>
              <a:rPr dirty="0"/>
              <a:t>]  </a:t>
            </a:r>
            <a:r>
              <a:rPr dirty="0" err="1"/>
              <a:t>ما</a:t>
            </a:r>
            <a:r>
              <a:rPr dirty="0"/>
              <a:t> </a:t>
            </a:r>
            <a:r>
              <a:rPr dirty="0" err="1"/>
              <a:t>هو</a:t>
            </a:r>
            <a:r>
              <a:rPr dirty="0"/>
              <a:t> ORCID </a:t>
            </a:r>
            <a:r>
              <a:rPr dirty="0" err="1"/>
              <a:t>ولماذا</a:t>
            </a:r>
            <a:r>
              <a:rPr dirty="0"/>
              <a:t> </a:t>
            </a:r>
            <a:r>
              <a:rPr dirty="0" err="1"/>
              <a:t>هو</a:t>
            </a:r>
            <a:r>
              <a:rPr dirty="0"/>
              <a:t> </a:t>
            </a:r>
            <a:r>
              <a:rPr dirty="0" err="1"/>
              <a:t>إلزامي</a:t>
            </a:r>
            <a:r>
              <a:rPr dirty="0"/>
              <a:t>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منظمة</a:t>
            </a:r>
            <a:r>
              <a:rPr dirty="0"/>
              <a:t> </a:t>
            </a:r>
            <a:r>
              <a:rPr dirty="0" err="1"/>
              <a:t>دولية</a:t>
            </a:r>
            <a:r>
              <a:rPr dirty="0"/>
              <a:t> </a:t>
            </a:r>
            <a:r>
              <a:rPr dirty="0" err="1"/>
              <a:t>غير</a:t>
            </a:r>
            <a:r>
              <a:rPr dirty="0"/>
              <a:t> </a:t>
            </a:r>
            <a:r>
              <a:rPr dirty="0" err="1"/>
              <a:t>ربحية</a:t>
            </a:r>
            <a:r>
              <a:rPr dirty="0"/>
              <a:t> </a:t>
            </a:r>
            <a:r>
              <a:rPr dirty="0" err="1"/>
              <a:t>تمنح</a:t>
            </a:r>
            <a:r>
              <a:rPr dirty="0"/>
              <a:t> </a:t>
            </a:r>
            <a:r>
              <a:rPr dirty="0" err="1"/>
              <a:t>كل</a:t>
            </a:r>
            <a:r>
              <a:rPr dirty="0"/>
              <a:t> </a:t>
            </a:r>
            <a:r>
              <a:rPr dirty="0" err="1"/>
              <a:t>باحث</a:t>
            </a:r>
            <a:r>
              <a:rPr dirty="0"/>
              <a:t> </a:t>
            </a:r>
            <a:r>
              <a:rPr dirty="0" err="1"/>
              <a:t>كوداً</a:t>
            </a:r>
            <a:r>
              <a:rPr dirty="0"/>
              <a:t> </a:t>
            </a:r>
            <a:r>
              <a:rPr dirty="0" err="1"/>
              <a:t>فريداً</a:t>
            </a:r>
            <a:r>
              <a:rPr dirty="0"/>
              <a:t> </a:t>
            </a:r>
            <a:r>
              <a:rPr dirty="0" err="1"/>
              <a:t>مكوناً</a:t>
            </a:r>
            <a:r>
              <a:rPr dirty="0"/>
              <a:t> من 16 </a:t>
            </a:r>
            <a:r>
              <a:rPr dirty="0" err="1"/>
              <a:t>رقماً</a:t>
            </a:r>
            <a:r>
              <a:rPr dirty="0"/>
              <a:t>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  • </a:t>
            </a:r>
            <a:r>
              <a:rPr dirty="0" err="1"/>
              <a:t>مثال</a:t>
            </a:r>
            <a:r>
              <a:rPr dirty="0"/>
              <a:t>: https://orcid.org/0000-0002-1825-0097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شرط</a:t>
            </a:r>
            <a:r>
              <a:rPr dirty="0"/>
              <a:t> </a:t>
            </a:r>
            <a:r>
              <a:rPr dirty="0" err="1"/>
              <a:t>إلزامي</a:t>
            </a:r>
            <a:r>
              <a:rPr dirty="0"/>
              <a:t> </a:t>
            </a:r>
            <a:r>
              <a:rPr dirty="0" err="1"/>
              <a:t>للتقديم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معظم</a:t>
            </a:r>
            <a:r>
              <a:rPr dirty="0"/>
              <a:t> </a:t>
            </a:r>
            <a:r>
              <a:rPr dirty="0" err="1"/>
              <a:t>المجلات</a:t>
            </a:r>
            <a:r>
              <a:rPr dirty="0"/>
              <a:t> </a:t>
            </a:r>
            <a:r>
              <a:rPr dirty="0" err="1"/>
              <a:t>المصنفة</a:t>
            </a:r>
            <a:r>
              <a:rPr dirty="0"/>
              <a:t> (Elsevier, Springer, Wiley, Nature).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مطلب</a:t>
            </a:r>
            <a:r>
              <a:rPr dirty="0"/>
              <a:t> </a:t>
            </a:r>
            <a:r>
              <a:rPr dirty="0" err="1"/>
              <a:t>أساسي</a:t>
            </a:r>
            <a:r>
              <a:rPr dirty="0"/>
              <a:t> </a:t>
            </a:r>
            <a:r>
              <a:rPr dirty="0" err="1"/>
              <a:t>لجهات</a:t>
            </a:r>
            <a:r>
              <a:rPr dirty="0"/>
              <a:t> </a:t>
            </a:r>
            <a:r>
              <a:rPr dirty="0" err="1"/>
              <a:t>التمويل</a:t>
            </a:r>
            <a:r>
              <a:rPr dirty="0"/>
              <a:t> </a:t>
            </a:r>
            <a:r>
              <a:rPr dirty="0" err="1"/>
              <a:t>الوطنية</a:t>
            </a:r>
            <a:r>
              <a:rPr dirty="0"/>
              <a:t> </a:t>
            </a:r>
            <a:r>
              <a:rPr dirty="0" err="1"/>
              <a:t>والدولية</a:t>
            </a:r>
            <a:r>
              <a:rPr dirty="0"/>
              <a:t> (</a:t>
            </a:r>
            <a:r>
              <a:rPr dirty="0" err="1"/>
              <a:t>هيئة</a:t>
            </a:r>
            <a:r>
              <a:rPr dirty="0"/>
              <a:t> </a:t>
            </a:r>
            <a:r>
              <a:rPr dirty="0" err="1"/>
              <a:t>تنمية</a:t>
            </a:r>
            <a:r>
              <a:rPr dirty="0"/>
              <a:t> </a:t>
            </a:r>
            <a:r>
              <a:rPr dirty="0" err="1"/>
              <a:t>البحث</a:t>
            </a:r>
            <a:r>
              <a:rPr dirty="0"/>
              <a:t> </a:t>
            </a:r>
            <a:r>
              <a:rPr dirty="0" err="1"/>
              <a:t>والتطوير</a:t>
            </a:r>
            <a:r>
              <a:rPr dirty="0"/>
              <a:t> </a:t>
            </a:r>
            <a:r>
              <a:rPr dirty="0" err="1"/>
              <a:t>والابتكار</a:t>
            </a:r>
            <a:r>
              <a:rPr dirty="0"/>
              <a:t> RDIA).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يعمل</a:t>
            </a:r>
            <a:r>
              <a:rPr dirty="0"/>
              <a:t> </a:t>
            </a:r>
            <a:r>
              <a:rPr dirty="0" err="1"/>
              <a:t>كحلقة</a:t>
            </a:r>
            <a:r>
              <a:rPr dirty="0"/>
              <a:t> </a:t>
            </a:r>
            <a:r>
              <a:rPr dirty="0" err="1"/>
              <a:t>وصل</a:t>
            </a:r>
            <a:r>
              <a:rPr dirty="0"/>
              <a:t> </a:t>
            </a:r>
            <a:r>
              <a:rPr dirty="0" err="1"/>
              <a:t>مركزية</a:t>
            </a:r>
            <a:r>
              <a:rPr dirty="0"/>
              <a:t> </a:t>
            </a:r>
            <a:r>
              <a:rPr dirty="0" err="1"/>
              <a:t>بين</a:t>
            </a:r>
            <a:r>
              <a:rPr dirty="0"/>
              <a:t> Scopus و Web of Science و </a:t>
            </a:r>
            <a:r>
              <a:rPr dirty="0" err="1"/>
              <a:t>Crossref</a:t>
            </a:r>
            <a:r>
              <a:rPr dirty="0"/>
              <a:t> و </a:t>
            </a:r>
            <a:r>
              <a:rPr dirty="0" err="1"/>
              <a:t>DataCite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يظل</a:t>
            </a:r>
            <a:r>
              <a:rPr dirty="0"/>
              <a:t> </a:t>
            </a:r>
            <a:r>
              <a:rPr dirty="0" err="1"/>
              <a:t>ملكاً</a:t>
            </a:r>
            <a:r>
              <a:rPr dirty="0"/>
              <a:t> </a:t>
            </a:r>
            <a:r>
              <a:rPr dirty="0" err="1"/>
              <a:t>لك</a:t>
            </a:r>
            <a:r>
              <a:rPr dirty="0"/>
              <a:t> </a:t>
            </a:r>
            <a:r>
              <a:rPr dirty="0" err="1"/>
              <a:t>مدى</a:t>
            </a:r>
            <a:r>
              <a:rPr dirty="0"/>
              <a:t> </a:t>
            </a:r>
            <a:r>
              <a:rPr dirty="0" err="1"/>
              <a:t>الحياة</a:t>
            </a:r>
            <a:r>
              <a:rPr dirty="0"/>
              <a:t> </a:t>
            </a:r>
            <a:r>
              <a:rPr dirty="0" err="1"/>
              <a:t>بصرف</a:t>
            </a:r>
            <a:r>
              <a:rPr dirty="0"/>
              <a:t> </a:t>
            </a:r>
            <a:r>
              <a:rPr dirty="0" err="1"/>
              <a:t>النظر</a:t>
            </a:r>
            <a:r>
              <a:rPr dirty="0"/>
              <a:t> </a:t>
            </a:r>
            <a:r>
              <a:rPr dirty="0" err="1"/>
              <a:t>عن</a:t>
            </a:r>
            <a:r>
              <a:rPr dirty="0"/>
              <a:t> </a:t>
            </a:r>
            <a:r>
              <a:rPr dirty="0" err="1"/>
              <a:t>جامعتك</a:t>
            </a:r>
            <a:r>
              <a:rPr dirty="0"/>
              <a:t> </a:t>
            </a:r>
            <a:r>
              <a:rPr dirty="0" err="1"/>
              <a:t>أو</a:t>
            </a:r>
            <a:r>
              <a:rPr dirty="0"/>
              <a:t> </a:t>
            </a:r>
            <a:r>
              <a:rPr dirty="0" err="1"/>
              <a:t>وظيفتك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[مكونات الملف]  المكونات الأساسية لملف ORCID الناجح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الاسم والبدائل (Also known as): أضف كافة الصيغ التي كتبت بها اسمك سابقاً.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جهة الانتساب (Employment): ربط جامعة طيبة باستخدام كود ROR المؤسسي.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السيرة العلمية (Biography): نبذة مقتضبة تركز على التخصص الدقيق والاهتمامات.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الأعمال والأبحاث (Works): استيراد مؤتمت عبر الـ DOI أو أدوات الربط (Search &amp; Link).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التمويل والجوائز (Funding): توثيق المشاريع والمنح البحثية الممولة.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نشاط عملي (1): محاكاة منصة ORCID على تطبيق الويب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rPr dirty="0"/>
              <a:t>[</a:t>
            </a:r>
            <a:r>
              <a:rPr dirty="0" err="1"/>
              <a:t>مختبر</a:t>
            </a:r>
            <a:r>
              <a:rPr dirty="0"/>
              <a:t> </a:t>
            </a:r>
            <a:r>
              <a:rPr dirty="0" err="1"/>
              <a:t>المحاكاة</a:t>
            </a:r>
            <a:r>
              <a:rPr dirty="0"/>
              <a:t> - 7 </a:t>
            </a:r>
            <a:r>
              <a:rPr dirty="0" err="1"/>
              <a:t>دقائق</a:t>
            </a:r>
            <a:r>
              <a:rPr dirty="0"/>
              <a:t>]  </a:t>
            </a:r>
            <a:r>
              <a:rPr dirty="0" err="1"/>
              <a:t>مهام</a:t>
            </a:r>
            <a:r>
              <a:rPr dirty="0"/>
              <a:t> </a:t>
            </a:r>
            <a:r>
              <a:rPr dirty="0" err="1"/>
              <a:t>المحاكاة</a:t>
            </a:r>
            <a:r>
              <a:rPr dirty="0"/>
              <a:t> </a:t>
            </a:r>
            <a:r>
              <a:rPr dirty="0" err="1"/>
              <a:t>الافتراضية</a:t>
            </a:r>
            <a:r>
              <a:rPr dirty="0"/>
              <a:t> </a:t>
            </a:r>
            <a:r>
              <a:rPr dirty="0" err="1"/>
              <a:t>داخل</a:t>
            </a:r>
            <a:r>
              <a:rPr dirty="0"/>
              <a:t> </a:t>
            </a:r>
            <a:r>
              <a:rPr dirty="0" err="1"/>
              <a:t>التطبيق</a:t>
            </a:r>
            <a:endParaRPr dirty="0"/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انتقل</a:t>
            </a:r>
            <a:r>
              <a:rPr dirty="0"/>
              <a:t> </a:t>
            </a:r>
            <a:r>
              <a:rPr dirty="0" err="1"/>
              <a:t>إلى</a:t>
            </a:r>
            <a:r>
              <a:rPr dirty="0"/>
              <a:t> </a:t>
            </a:r>
            <a:r>
              <a:rPr dirty="0" err="1"/>
              <a:t>نافذة</a:t>
            </a:r>
            <a:r>
              <a:rPr dirty="0"/>
              <a:t>: [</a:t>
            </a:r>
            <a:r>
              <a:rPr dirty="0" err="1"/>
              <a:t>محاكي</a:t>
            </a:r>
            <a:r>
              <a:rPr dirty="0"/>
              <a:t> </a:t>
            </a:r>
            <a:r>
              <a:rPr dirty="0" err="1"/>
              <a:t>منصة</a:t>
            </a:r>
            <a:r>
              <a:rPr dirty="0"/>
              <a:t> ORCID]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تطبيق</a:t>
            </a:r>
            <a:r>
              <a:rPr dirty="0"/>
              <a:t> </a:t>
            </a:r>
            <a:r>
              <a:rPr dirty="0" err="1"/>
              <a:t>الويب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المهمة</a:t>
            </a:r>
            <a:r>
              <a:rPr dirty="0"/>
              <a:t> 1: </a:t>
            </a:r>
            <a:r>
              <a:rPr dirty="0" err="1"/>
              <a:t>تسجيل</a:t>
            </a:r>
            <a:r>
              <a:rPr dirty="0"/>
              <a:t> </a:t>
            </a:r>
            <a:r>
              <a:rPr dirty="0" err="1"/>
              <a:t>باحث</a:t>
            </a:r>
            <a:r>
              <a:rPr dirty="0"/>
              <a:t> </a:t>
            </a:r>
            <a:r>
              <a:rPr dirty="0" err="1"/>
              <a:t>افتراضي</a:t>
            </a:r>
            <a:r>
              <a:rPr dirty="0"/>
              <a:t> </a:t>
            </a:r>
            <a:r>
              <a:rPr dirty="0" err="1"/>
              <a:t>وإدخال</a:t>
            </a:r>
            <a:r>
              <a:rPr dirty="0"/>
              <a:t> </a:t>
            </a:r>
            <a:r>
              <a:rPr dirty="0" err="1"/>
              <a:t>الاسم</a:t>
            </a:r>
            <a:r>
              <a:rPr dirty="0"/>
              <a:t> </a:t>
            </a:r>
            <a:r>
              <a:rPr dirty="0" err="1"/>
              <a:t>وبدائل</a:t>
            </a:r>
            <a:r>
              <a:rPr dirty="0"/>
              <a:t> </a:t>
            </a:r>
            <a:r>
              <a:rPr dirty="0" err="1"/>
              <a:t>التهجئة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المهمة</a:t>
            </a:r>
            <a:r>
              <a:rPr dirty="0"/>
              <a:t> 2: </a:t>
            </a:r>
            <a:r>
              <a:rPr dirty="0" err="1"/>
              <a:t>إضافة</a:t>
            </a:r>
            <a:r>
              <a:rPr dirty="0"/>
              <a:t> </a:t>
            </a:r>
            <a:r>
              <a:rPr dirty="0" err="1"/>
              <a:t>جهة</a:t>
            </a:r>
            <a:r>
              <a:rPr dirty="0"/>
              <a:t> </a:t>
            </a:r>
            <a:r>
              <a:rPr dirty="0" err="1"/>
              <a:t>العمل</a:t>
            </a:r>
            <a:r>
              <a:rPr dirty="0"/>
              <a:t> (جامعة طيبة - كلية العلوم الطبية التطبيقية).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المهمة</a:t>
            </a:r>
            <a:r>
              <a:rPr dirty="0"/>
              <a:t> 3: </a:t>
            </a:r>
            <a:r>
              <a:rPr dirty="0" err="1"/>
              <a:t>إضافة</a:t>
            </a:r>
            <a:r>
              <a:rPr dirty="0"/>
              <a:t> </a:t>
            </a:r>
            <a:r>
              <a:rPr dirty="0" err="1"/>
              <a:t>ورقة</a:t>
            </a:r>
            <a:r>
              <a:rPr dirty="0"/>
              <a:t> </a:t>
            </a:r>
            <a:r>
              <a:rPr dirty="0" err="1"/>
              <a:t>بحثية</a:t>
            </a:r>
            <a:r>
              <a:rPr dirty="0"/>
              <a:t> </a:t>
            </a:r>
            <a:r>
              <a:rPr dirty="0" err="1"/>
              <a:t>تجريبية</a:t>
            </a:r>
            <a:r>
              <a:rPr dirty="0"/>
              <a:t> </a:t>
            </a:r>
            <a:r>
              <a:rPr dirty="0" err="1"/>
              <a:t>عبر</a:t>
            </a:r>
            <a:r>
              <a:rPr dirty="0"/>
              <a:t> رقم </a:t>
            </a:r>
            <a:r>
              <a:rPr dirty="0" err="1"/>
              <a:t>المعرف</a:t>
            </a:r>
            <a:r>
              <a:rPr dirty="0"/>
              <a:t> </a:t>
            </a:r>
            <a:r>
              <a:rPr dirty="0" err="1"/>
              <a:t>الرقمي</a:t>
            </a:r>
            <a:r>
              <a:rPr dirty="0"/>
              <a:t> (DOI).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المهمة</a:t>
            </a:r>
            <a:r>
              <a:rPr dirty="0"/>
              <a:t> 4: </a:t>
            </a:r>
            <a:r>
              <a:rPr dirty="0" err="1"/>
              <a:t>تجربة</a:t>
            </a:r>
            <a:r>
              <a:rPr dirty="0"/>
              <a:t> </a:t>
            </a:r>
            <a:r>
              <a:rPr dirty="0" err="1"/>
              <a:t>مستويات</a:t>
            </a:r>
            <a:r>
              <a:rPr dirty="0"/>
              <a:t> </a:t>
            </a:r>
            <a:r>
              <a:rPr dirty="0" err="1"/>
              <a:t>الخصوصية</a:t>
            </a:r>
            <a:r>
              <a:rPr dirty="0"/>
              <a:t> </a:t>
            </a:r>
            <a:r>
              <a:rPr dirty="0" err="1"/>
              <a:t>الثلاثة</a:t>
            </a:r>
            <a:r>
              <a:rPr dirty="0"/>
              <a:t> (</a:t>
            </a:r>
            <a:r>
              <a:rPr dirty="0" err="1"/>
              <a:t>الجميع</a:t>
            </a:r>
            <a:r>
              <a:rPr dirty="0"/>
              <a:t>، </a:t>
            </a:r>
            <a:r>
              <a:rPr dirty="0" err="1"/>
              <a:t>الجهات</a:t>
            </a:r>
            <a:r>
              <a:rPr dirty="0"/>
              <a:t> </a:t>
            </a:r>
            <a:r>
              <a:rPr dirty="0" err="1"/>
              <a:t>الموثوقة</a:t>
            </a:r>
            <a:r>
              <a:rPr dirty="0"/>
              <a:t>، </a:t>
            </a:r>
            <a:r>
              <a:rPr dirty="0" err="1"/>
              <a:t>أنا</a:t>
            </a:r>
            <a:r>
              <a:rPr dirty="0"/>
              <a:t> </a:t>
            </a:r>
            <a:r>
              <a:rPr dirty="0" err="1"/>
              <a:t>فقط</a:t>
            </a:r>
            <a:r>
              <a:rPr dirty="0"/>
              <a:t>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المهمة</a:t>
            </a:r>
            <a:r>
              <a:rPr dirty="0"/>
              <a:t> 5: </a:t>
            </a:r>
            <a:r>
              <a:rPr dirty="0" err="1"/>
              <a:t>الحصول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شارة</a:t>
            </a:r>
            <a:r>
              <a:rPr dirty="0"/>
              <a:t> </a:t>
            </a:r>
            <a:r>
              <a:rPr dirty="0" err="1"/>
              <a:t>إتمام</a:t>
            </a:r>
            <a:r>
              <a:rPr dirty="0"/>
              <a:t> </a:t>
            </a:r>
            <a:r>
              <a:rPr dirty="0" err="1"/>
              <a:t>محاكاة</a:t>
            </a:r>
            <a:r>
              <a:rPr dirty="0"/>
              <a:t> ORCID </a:t>
            </a:r>
            <a:r>
              <a:rPr dirty="0" err="1"/>
              <a:t>واستعراض</a:t>
            </a:r>
            <a:r>
              <a:rPr dirty="0"/>
              <a:t> </a:t>
            </a:r>
            <a:r>
              <a:rPr dirty="0" err="1"/>
              <a:t>دليل</a:t>
            </a:r>
            <a:r>
              <a:rPr dirty="0"/>
              <a:t> </a:t>
            </a:r>
            <a:r>
              <a:rPr dirty="0" err="1"/>
              <a:t>ما</a:t>
            </a:r>
            <a:r>
              <a:rPr dirty="0"/>
              <a:t> </a:t>
            </a:r>
            <a:r>
              <a:rPr dirty="0" err="1"/>
              <a:t>بعد</a:t>
            </a:r>
            <a:r>
              <a:rPr dirty="0"/>
              <a:t> </a:t>
            </a:r>
            <a:r>
              <a:rPr dirty="0" err="1"/>
              <a:t>الورشة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[مزايا المحاكاة]  لماذا المحاكاة أفضل أثناء الورشة؟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تجنب تعطل رسائل التحقق عبر البريد الإلكتروني أثناء التدريب المباشر.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توفير بيئة تجريبية آمنة خالية من الأخطاء يمكن التدرب عليها دون قلق.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تزويدك بدليل مطبوع مفصل (خطوة بخطوة) للتسجيل الفعلي فور انتهاء الورشة.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التعرف على خفايا الإعدادات قبل تطبيقها على حسابك الرسمي الحقيقي.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أفضل ممارسات ORCID: الخصوصية والمزامنة التلقائية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[إدارة الخصوصية]  مصفوفة الخصوصية الثلاثية (Privacy Matrix)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الجميع (Everyone - الأخضر):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يجب تطبيقه على الاسم، جهة الانتساب الحالية، وقائمة الأبحاث المنشورة.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بدون هذا الخيار، تظل أبحاثك مخفية عن قواعد بيانات التصنيف!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الجهات الموثوقة (Trusted Parties - الأصفر):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منح الإذن لمجلات مثل Elsevier و Springer Nature لإضافة أبحاثك تلقائياً.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أنا فقط (Only Me - الأحمر):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للبيانات الشخصية الحساسة فقط (مثل البريد الشخصي الاحتياطي أو تاريخ الميلاد).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rPr dirty="0"/>
              <a:t>[</a:t>
            </a:r>
            <a:r>
              <a:rPr dirty="0" err="1"/>
              <a:t>الأتمتة</a:t>
            </a:r>
            <a:r>
              <a:rPr dirty="0"/>
              <a:t> </a:t>
            </a:r>
            <a:r>
              <a:rPr dirty="0" err="1"/>
              <a:t>الذكية</a:t>
            </a:r>
            <a:r>
              <a:rPr dirty="0"/>
              <a:t>]  </a:t>
            </a:r>
            <a:r>
              <a:rPr dirty="0" err="1"/>
              <a:t>ميزة</a:t>
            </a:r>
            <a:r>
              <a:rPr dirty="0"/>
              <a:t> </a:t>
            </a:r>
            <a:r>
              <a:rPr dirty="0" err="1"/>
              <a:t>التحديث</a:t>
            </a:r>
            <a:r>
              <a:rPr dirty="0"/>
              <a:t> </a:t>
            </a:r>
            <a:r>
              <a:rPr dirty="0" err="1"/>
              <a:t>التلقائي</a:t>
            </a:r>
            <a:r>
              <a:rPr dirty="0"/>
              <a:t> (Auto-Update)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تفعيل</a:t>
            </a:r>
            <a:r>
              <a:rPr dirty="0"/>
              <a:t> </a:t>
            </a:r>
            <a:r>
              <a:rPr dirty="0" err="1"/>
              <a:t>ربط</a:t>
            </a:r>
            <a:r>
              <a:rPr dirty="0"/>
              <a:t> </a:t>
            </a:r>
            <a:r>
              <a:rPr dirty="0" err="1"/>
              <a:t>Crossref</a:t>
            </a:r>
            <a:r>
              <a:rPr dirty="0"/>
              <a:t> و </a:t>
            </a:r>
            <a:r>
              <a:rPr dirty="0" err="1"/>
              <a:t>DataCite</a:t>
            </a:r>
            <a:r>
              <a:rPr dirty="0"/>
              <a:t> </a:t>
            </a:r>
            <a:r>
              <a:rPr dirty="0" err="1"/>
              <a:t>مع</a:t>
            </a:r>
            <a:r>
              <a:rPr dirty="0"/>
              <a:t> </a:t>
            </a:r>
            <a:r>
              <a:rPr dirty="0" err="1"/>
              <a:t>حسابك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ORCID: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  • </a:t>
            </a:r>
            <a:r>
              <a:rPr dirty="0" err="1"/>
              <a:t>بمجرد</a:t>
            </a:r>
            <a:r>
              <a:rPr dirty="0"/>
              <a:t> </a:t>
            </a:r>
            <a:r>
              <a:rPr dirty="0" err="1"/>
              <a:t>قبول</a:t>
            </a:r>
            <a:r>
              <a:rPr dirty="0"/>
              <a:t> </a:t>
            </a:r>
            <a:r>
              <a:rPr dirty="0" err="1"/>
              <a:t>بحثك</a:t>
            </a:r>
            <a:r>
              <a:rPr dirty="0"/>
              <a:t> </a:t>
            </a:r>
            <a:r>
              <a:rPr dirty="0" err="1"/>
              <a:t>ونشره</a:t>
            </a:r>
            <a:r>
              <a:rPr dirty="0"/>
              <a:t> </a:t>
            </a:r>
            <a:r>
              <a:rPr dirty="0" err="1"/>
              <a:t>ومنحه</a:t>
            </a:r>
            <a:r>
              <a:rPr dirty="0"/>
              <a:t> رقم DOI، </a:t>
            </a:r>
            <a:r>
              <a:rPr dirty="0" err="1"/>
              <a:t>يتم</a:t>
            </a:r>
            <a:r>
              <a:rPr dirty="0"/>
              <a:t> </a:t>
            </a:r>
            <a:r>
              <a:rPr dirty="0" err="1"/>
              <a:t>إرساله</a:t>
            </a:r>
            <a:r>
              <a:rPr dirty="0"/>
              <a:t> </a:t>
            </a:r>
            <a:r>
              <a:rPr dirty="0" err="1"/>
              <a:t>لحساب</a:t>
            </a:r>
            <a:r>
              <a:rPr dirty="0"/>
              <a:t> ORCID </a:t>
            </a:r>
            <a:r>
              <a:rPr dirty="0" err="1"/>
              <a:t>الخاص</a:t>
            </a:r>
            <a:r>
              <a:rPr dirty="0"/>
              <a:t> </a:t>
            </a:r>
            <a:r>
              <a:rPr dirty="0" err="1"/>
              <a:t>بك</a:t>
            </a:r>
            <a:r>
              <a:rPr dirty="0"/>
              <a:t> </a:t>
            </a:r>
            <a:r>
              <a:rPr dirty="0" err="1"/>
              <a:t>آلياً</a:t>
            </a:r>
            <a:r>
              <a:rPr dirty="0"/>
              <a:t> </a:t>
            </a:r>
            <a:r>
              <a:rPr dirty="0" err="1"/>
              <a:t>دون</a:t>
            </a:r>
            <a:r>
              <a:rPr dirty="0"/>
              <a:t> </a:t>
            </a:r>
            <a:r>
              <a:rPr dirty="0" err="1"/>
              <a:t>أي</a:t>
            </a:r>
            <a:r>
              <a:rPr dirty="0"/>
              <a:t> </a:t>
            </a:r>
            <a:r>
              <a:rPr dirty="0" err="1"/>
              <a:t>تدخل</a:t>
            </a:r>
            <a:r>
              <a:rPr dirty="0"/>
              <a:t> </a:t>
            </a:r>
            <a:r>
              <a:rPr dirty="0" err="1"/>
              <a:t>منك</a:t>
            </a:r>
            <a:r>
              <a:rPr dirty="0"/>
              <a:t>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توفير</a:t>
            </a:r>
            <a:r>
              <a:rPr dirty="0"/>
              <a:t> </a:t>
            </a:r>
            <a:r>
              <a:rPr dirty="0" err="1"/>
              <a:t>ساعات</a:t>
            </a:r>
            <a:r>
              <a:rPr dirty="0"/>
              <a:t> من </a:t>
            </a:r>
            <a:r>
              <a:rPr dirty="0" err="1"/>
              <a:t>إدخال</a:t>
            </a:r>
            <a:r>
              <a:rPr dirty="0"/>
              <a:t> </a:t>
            </a:r>
            <a:r>
              <a:rPr dirty="0" err="1"/>
              <a:t>البيانات</a:t>
            </a:r>
            <a:r>
              <a:rPr dirty="0"/>
              <a:t> </a:t>
            </a:r>
            <a:r>
              <a:rPr dirty="0" err="1"/>
              <a:t>اليدوي</a:t>
            </a:r>
            <a:r>
              <a:rPr dirty="0"/>
              <a:t> </a:t>
            </a:r>
            <a:r>
              <a:rPr dirty="0" err="1"/>
              <a:t>المتكرر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كل</a:t>
            </a:r>
            <a:r>
              <a:rPr dirty="0"/>
              <a:t> </a:t>
            </a:r>
            <a:r>
              <a:rPr dirty="0" err="1"/>
              <a:t>مرة</a:t>
            </a:r>
            <a:r>
              <a:rPr dirty="0"/>
              <a:t> </a:t>
            </a:r>
            <a:r>
              <a:rPr dirty="0" err="1"/>
              <a:t>تنشر</a:t>
            </a:r>
            <a:r>
              <a:rPr dirty="0"/>
              <a:t> </a:t>
            </a:r>
            <a:r>
              <a:rPr dirty="0" err="1"/>
              <a:t>فيها</a:t>
            </a:r>
            <a:r>
              <a:rPr dirty="0"/>
              <a:t> </a:t>
            </a:r>
            <a:r>
              <a:rPr dirty="0" err="1"/>
              <a:t>بحثاً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ضمان</a:t>
            </a:r>
            <a:r>
              <a:rPr dirty="0"/>
              <a:t> </a:t>
            </a:r>
            <a:r>
              <a:rPr dirty="0" err="1"/>
              <a:t>عدم</a:t>
            </a:r>
            <a:r>
              <a:rPr dirty="0"/>
              <a:t> </a:t>
            </a:r>
            <a:r>
              <a:rPr dirty="0" err="1"/>
              <a:t>نسيان</a:t>
            </a:r>
            <a:r>
              <a:rPr dirty="0"/>
              <a:t> </a:t>
            </a:r>
            <a:r>
              <a:rPr dirty="0" err="1"/>
              <a:t>أو</a:t>
            </a:r>
            <a:r>
              <a:rPr dirty="0"/>
              <a:t> </a:t>
            </a:r>
            <a:r>
              <a:rPr dirty="0" err="1"/>
              <a:t>سقوط</a:t>
            </a:r>
            <a:r>
              <a:rPr dirty="0"/>
              <a:t> </a:t>
            </a:r>
            <a:r>
              <a:rPr dirty="0" err="1"/>
              <a:t>أي</a:t>
            </a:r>
            <a:r>
              <a:rPr dirty="0"/>
              <a:t> </a:t>
            </a:r>
            <a:r>
              <a:rPr dirty="0" err="1"/>
              <a:t>ورقة</a:t>
            </a:r>
            <a:r>
              <a:rPr dirty="0"/>
              <a:t> </a:t>
            </a:r>
            <a:r>
              <a:rPr dirty="0" err="1"/>
              <a:t>بحثية</a:t>
            </a:r>
            <a:r>
              <a:rPr dirty="0"/>
              <a:t> </a:t>
            </a:r>
            <a:r>
              <a:rPr dirty="0" err="1"/>
              <a:t>جديدة</a:t>
            </a:r>
            <a:r>
              <a:rPr dirty="0"/>
              <a:t> من </a:t>
            </a:r>
            <a:r>
              <a:rPr dirty="0" err="1"/>
              <a:t>سجلك</a:t>
            </a:r>
            <a:r>
              <a:rPr dirty="0"/>
              <a:t> </a:t>
            </a:r>
            <a:r>
              <a:rPr dirty="0" err="1"/>
              <a:t>الأكاديمي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تكامل</a:t>
            </a:r>
            <a:r>
              <a:rPr dirty="0"/>
              <a:t> ORCID </a:t>
            </a:r>
            <a:r>
              <a:rPr dirty="0" err="1"/>
              <a:t>مع</a:t>
            </a:r>
            <a:r>
              <a:rPr dirty="0"/>
              <a:t> </a:t>
            </a:r>
            <a:r>
              <a:rPr dirty="0" err="1"/>
              <a:t>أنظمة</a:t>
            </a:r>
            <a:r>
              <a:rPr dirty="0"/>
              <a:t> إدارة </a:t>
            </a:r>
            <a:r>
              <a:rPr dirty="0" err="1"/>
              <a:t>البحث</a:t>
            </a:r>
            <a:r>
              <a:rPr dirty="0"/>
              <a:t> </a:t>
            </a:r>
            <a:r>
              <a:rPr dirty="0" err="1"/>
              <a:t>بالجامعة</a:t>
            </a:r>
            <a:r>
              <a:rPr dirty="0"/>
              <a:t> (Pure / </a:t>
            </a:r>
            <a:r>
              <a:rPr dirty="0" err="1"/>
              <a:t>Converis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باحث Google العلمي: واجهة الاكتشاف والاستشهاد الأوسع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[الأهمية والانتشار]  مكانة Google Scholar عالمياً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محرك البحث الأكاديمي الأكثر استخداماً بين الباحثين والطلاب حول العالم.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أوسع تغطية للفهرسة: يشمل المجلات المحكمة، وقائع المؤتمرات، الأطروحات، والكتب.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يحدث مؤشرات الاستشهاد بسرعة فائقة مقارنة بقواعد البيانات الأخرى.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يقدم لوحة مؤشرات واضحة: إجمالي الاستشهادات، معامل h-index، ومعامل i10-index.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حسابك فيه هو واجهتك الأولى عندما يبحث أي شخص عن اسمك في محرك بحث Google!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[شروط التوثيق]  الشروط الثلاثة لظهور الملف وتوثيقه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1. التوثيق بالبريد الجامعي الرسمي (@taibahu.edu.sa):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• يمنحك عبارة 'بريد إلكتروني تم التحقق منه في taibahu.edu.sa'.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• يربط أبحاثك بملف جامعة طيبة في تصنيف الجامعات.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2. تفعيل خيار 'الملف الشخصي متاح للعامة' (Make my profile public).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3. إضافة كلمات مفتاحية دقيقة (Keywords) تمثل تخصصك لسهولة الاكتشاف.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نشاط عملي (2): محاكاة منصة Google Scholar على تطبيق الويب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[مختبر المحاكاة - 6 دقائق]  مهام محاكاة Google Scholar في التطبيق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انتقل إلى نافذة: [محاكي Google Scholar] في تطبيق الويب.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1: إدخال البريد الجامعي (@taibahu.edu.sa) وتجربة التوثيق.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2: فحص قائمة أبحاث تجريبية ورصد أبحاث دخيلة لباحث يحمل اسماً مشابهاً.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3: استبعاد الأبحاث غير الخاصة بك لحماية النزاهة العلمية.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4: دمج نسختين مكررتين لنفس البحث لتوحيد الاستشهادات.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5: ضبط إعدادات إضافة المقالات (المراجعة اليدوية vs الإضافة التلقائية).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C2626"/>
                </a:solidFill>
                <a:latin typeface="Arial"/>
              </a:defRPr>
            </a:pPr>
            <a:r>
              <a:t>[تحذير منهجي]  مخاطر إهمال تنظيف الحساب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إضافة أبحاث لباحثين آخرين يضر بسمعتك الأكاديمية ويعرض الحساب للشبهات.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تكرار نفس البحث يشتت الاقتباسات (مثلاً: نسخة المؤتمر 10 استشهادات ونسخة المجلة 15، بالدمج تصبح 25 استشهاداً!).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دمج النسخ يرفع معامل h-index فوراً إذا تخطى الاستشهاد الموحد حاجز العتبة المطلوبة.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التحقق الدوري كل شهر يضمن نظافة سجلك العلمي.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استراتيجيات تنظيف وضبط حساب باحث Google العلمي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[خطوات الدمج]  معالجة التكرارات والأخطاء الشائعة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البحث عن أبحاث المؤتمرات والمسودات ومقارنتها بنسخة المجلة النهائية.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تحديد المربعات بجانب النسخ المتطابقة والضغط على [Merge / دمج].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اختيار النسخة الأصح في العنوان وبيانات النشر لتكون هي الواجهة الأساسية.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في حال وجود بحث لا يخصك مطلقاً: اختر البحث واضغط على [Delete / حذف].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يمكن استعادة الأبحاث المحذوفة خطأً من سلة المهملات داخل الملف الشخصي.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[تحسين الكلمات]  تحسين الظهور والكلمات المفتاحية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كتابة مجالات الاهتمام بدقة (مثال: Medical Imaging, Radiology, AI in Healthcare).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تجنب الكلمات العامة جداً مثل (Medicine أو Science) لأنها لا تظهرك في قوائم التخصص.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الضغط على الكلمة المفتاحية يتيح لك رؤية ترتيبك وترتيب زملائك في التخصص بالجامعة.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إضافة رابط صفحتك الجامعية الرسمية على موقع جامعة طيبة في خانة (Homepage).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ResearchGate: مجتمع التواصل الأكاديمي وبناء السمعة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[شبكة التواصل]  فيسبوك العلماء والباحثين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شبكة تواصل اجتماعي مخصصة حصرياً للمجتمع الأكاديمي والبحثي (+25 مليون باحث).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منصة استثنائية للاكتشاف السريع، قراءة الأوراق الحديثة، والتواصل المباشر مع المؤلفين.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مؤشر اهتمام البحث (Research Interest Score): يقيس تفاعل الباحثين مع إنتاجك (قراءات، توصيات، اقتباسات).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خاصية طلب النص الكامل (Request Full-text): تتيح للزملاء حول العالم طلب أبحاثك المغلقة بموجب الاستخدام الشخصي المسموح.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تتبع مشاريع الأبحاث الجارية (Projects) قبل نشرها الرسمي.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[التفاعل الاحترافي]  الاستخدام الأكاديمي الذكي للمنصة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متابعة الباحثين الرواد في تخصصك الدقيق وتلقي إشعارات بأبحاثهم الجديدة.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المشاركة في الإجابة عن الأسئلة العلمية في مجالك لبناء سمعتك الدولية.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إنشاء مشاريع بحثية ومشاركة التحديثات والبيانات الأولية مع فريقك.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تحميل تقارير أسبوعية تفصيلية تظهر من قرأ أبحاثك ومن أي جامعات ودول!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نشاط عملي (3): محاكاة منصة ResearchGate على تطبيق الويب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[مختبر المحاكاة - 6 دقائق]  مهام محاكاة ResearchGate في التطبيق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انتقل إلى نافذة: [محاكي ResearchGate] في تطبيق الويب.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1: إعداد الملف الشخصي وتحديد الانتماء: Taibah University.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2: تجربة رفع بحث وفحص شاشة حقوق الملكية الفكرية.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3: التفريق العملي بين رفع (نسخة المؤلف المقبولة AAM) و (نسخة الناشر النهائية).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4: تجربة خاصية الرد على طلب نص كامل خاص (Private Sharing).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5: قراءة مؤشرات التفاعل (Reads, Citations, Research Interest).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[الدروس المستفادة]  ماذا نتعلم من هذه التجربة؟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كيف تنشر أبحاثك دون الوقوع في أي نزاع قضائي مع دور النشر العالمية.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الفرق الجوهري بين المشاركة العامة للجميع (Public) والمشاركة الفردية (Private).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كيف يؤدي التفاعل المنتظم إلى مضاعفة قراءات أبحاثك بمعدل 4 أضعاف مقارنة بتركها راكدة.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أهمية وضع ملخص جذاب وكلمات واضحة تشجع الباحثين على تحميل الورقة.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حقوق النشر والأرشفة الذاتية: ما المسموح نشره؟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[أنواع النسخ]  الصيغ الثلاث للورقة البحثية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1. المسودة الأولى للمؤلف (Preprint):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• النسخة التي كتبتها قبل إرسالها للمجلة وقبل التحكيم (مسموح نشرها غالباً).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2. النسخة المقبولة للنشر (Author Accepted Manuscript - AAM / Postprint):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• النسخة بعد التحكيم وتعديل الملاحظات ولكن بدون تنسيق الناشر وشعاره.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• يسمح معظم الناشرين بمشاركتها في المستودعات أو بطلب خاص!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3. نسخة الناشر النهائية (Version of Record - Publisher PDF):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 • النسخة المنسقة بشعار المجلة ورقم الصفحات. يمنع نشرها علناً إلا إذا كانت المجلة وصولاً مفتوحاً (Open Access)!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[الفحص القانوني]  أداة Sherpa Romeo للتحقق الفوري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موقع عالمي رسمي مجاني (v2.sherpa.ac.uk/romeo) للتحقق من سياسات المجلات.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ابحث باسم المجلة لمعرفة ما تسمح به بدقة: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هل تسمح بالنشر الذاتي لنسخة المؤلف المقبولة؟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ما هي فترة الحظر (Embargo Period) إن وجدت؟ (مثال: 12 شهراً).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ما هي الشروط الواجب كتابتها (مثل وضع رابط الـ DOI الرسمي للمجلة).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احمِ نفسك وجامعتك من مخالفات الملكية الفكرية باتباع هذه القواعد.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Scopus Author ID و Clarivate ResearcherID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rPr dirty="0"/>
              <a:t>[</a:t>
            </a:r>
            <a:r>
              <a:rPr dirty="0" err="1"/>
              <a:t>المعيار</a:t>
            </a:r>
            <a:r>
              <a:rPr dirty="0"/>
              <a:t> </a:t>
            </a:r>
            <a:r>
              <a:rPr dirty="0" err="1"/>
              <a:t>المؤسسي</a:t>
            </a:r>
            <a:r>
              <a:rPr dirty="0"/>
              <a:t>]  </a:t>
            </a:r>
            <a:r>
              <a:rPr dirty="0" err="1"/>
              <a:t>معرفات</a:t>
            </a:r>
            <a:r>
              <a:rPr dirty="0"/>
              <a:t> </a:t>
            </a:r>
            <a:r>
              <a:rPr dirty="0" err="1"/>
              <a:t>النشر</a:t>
            </a:r>
            <a:r>
              <a:rPr dirty="0"/>
              <a:t> </a:t>
            </a:r>
            <a:r>
              <a:rPr dirty="0" err="1"/>
              <a:t>المفهرس</a:t>
            </a:r>
            <a:r>
              <a:rPr dirty="0"/>
              <a:t> </a:t>
            </a:r>
            <a:r>
              <a:rPr dirty="0" err="1"/>
              <a:t>المرموق</a:t>
            </a:r>
            <a:endParaRPr dirty="0"/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Scopus (Elsevier) و Web of Science (Clarivate):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  • </a:t>
            </a:r>
            <a:r>
              <a:rPr dirty="0" err="1"/>
              <a:t>هما</a:t>
            </a:r>
            <a:r>
              <a:rPr dirty="0"/>
              <a:t> </a:t>
            </a:r>
            <a:r>
              <a:rPr dirty="0" err="1"/>
              <a:t>المعياران</a:t>
            </a:r>
            <a:r>
              <a:rPr dirty="0"/>
              <a:t> </a:t>
            </a:r>
            <a:r>
              <a:rPr dirty="0" err="1"/>
              <a:t>الرسميان</a:t>
            </a:r>
            <a:r>
              <a:rPr dirty="0"/>
              <a:t> </a:t>
            </a:r>
            <a:r>
              <a:rPr dirty="0" err="1"/>
              <a:t>لتقييم</a:t>
            </a:r>
            <a:r>
              <a:rPr dirty="0"/>
              <a:t> </a:t>
            </a:r>
            <a:r>
              <a:rPr dirty="0" err="1"/>
              <a:t>الجامعات</a:t>
            </a:r>
            <a:r>
              <a:rPr dirty="0"/>
              <a:t> </a:t>
            </a:r>
            <a:r>
              <a:rPr dirty="0" err="1"/>
              <a:t>والترقيات</a:t>
            </a:r>
            <a:r>
              <a:rPr dirty="0"/>
              <a:t> </a:t>
            </a:r>
            <a:r>
              <a:rPr dirty="0" err="1"/>
              <a:t>والجوائز</a:t>
            </a:r>
            <a:r>
              <a:rPr dirty="0"/>
              <a:t> </a:t>
            </a:r>
            <a:r>
              <a:rPr dirty="0" err="1"/>
              <a:t>والاعتماد</a:t>
            </a:r>
            <a:r>
              <a:rPr dirty="0"/>
              <a:t> </a:t>
            </a:r>
            <a:r>
              <a:rPr dirty="0" err="1"/>
              <a:t>الأكاديمي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لا</a:t>
            </a:r>
            <a:r>
              <a:rPr dirty="0"/>
              <a:t> </a:t>
            </a:r>
            <a:r>
              <a:rPr dirty="0" err="1"/>
              <a:t>تقوم</a:t>
            </a:r>
            <a:r>
              <a:rPr dirty="0"/>
              <a:t> </a:t>
            </a:r>
            <a:r>
              <a:rPr dirty="0" err="1"/>
              <a:t>بالتسجيل</a:t>
            </a:r>
            <a:r>
              <a:rPr dirty="0"/>
              <a:t> </a:t>
            </a:r>
            <a:r>
              <a:rPr dirty="0" err="1"/>
              <a:t>فيهما</a:t>
            </a:r>
            <a:r>
              <a:rPr dirty="0"/>
              <a:t> </a:t>
            </a:r>
            <a:r>
              <a:rPr dirty="0" err="1"/>
              <a:t>يدوياً</a:t>
            </a:r>
            <a:r>
              <a:rPr dirty="0"/>
              <a:t>؛ </a:t>
            </a:r>
            <a:r>
              <a:rPr dirty="0" err="1"/>
              <a:t>بل</a:t>
            </a:r>
            <a:r>
              <a:rPr dirty="0"/>
              <a:t> </a:t>
            </a:r>
            <a:r>
              <a:rPr dirty="0" err="1"/>
              <a:t>تنشئ</a:t>
            </a:r>
            <a:r>
              <a:rPr dirty="0"/>
              <a:t> </a:t>
            </a:r>
            <a:r>
              <a:rPr dirty="0" err="1"/>
              <a:t>المنظومة</a:t>
            </a:r>
            <a:r>
              <a:rPr dirty="0"/>
              <a:t> </a:t>
            </a:r>
            <a:r>
              <a:rPr dirty="0" err="1"/>
              <a:t>ملفاً</a:t>
            </a:r>
            <a:r>
              <a:rPr dirty="0"/>
              <a:t> </a:t>
            </a:r>
            <a:r>
              <a:rPr dirty="0" err="1"/>
              <a:t>تلقائياً</a:t>
            </a:r>
            <a:r>
              <a:rPr dirty="0"/>
              <a:t> </a:t>
            </a:r>
            <a:r>
              <a:rPr dirty="0" err="1"/>
              <a:t>بمجرد</a:t>
            </a:r>
            <a:r>
              <a:rPr dirty="0"/>
              <a:t> </a:t>
            </a:r>
            <a:r>
              <a:rPr dirty="0" err="1"/>
              <a:t>نشر</a:t>
            </a:r>
            <a:r>
              <a:rPr dirty="0"/>
              <a:t> </a:t>
            </a:r>
            <a:r>
              <a:rPr dirty="0" err="1"/>
              <a:t>أول</a:t>
            </a:r>
            <a:r>
              <a:rPr dirty="0"/>
              <a:t> </a:t>
            </a:r>
            <a:r>
              <a:rPr dirty="0" err="1"/>
              <a:t>بحث</a:t>
            </a:r>
            <a:r>
              <a:rPr dirty="0"/>
              <a:t> </a:t>
            </a:r>
            <a:r>
              <a:rPr dirty="0" err="1"/>
              <a:t>مفهرس</a:t>
            </a:r>
            <a:r>
              <a:rPr dirty="0"/>
              <a:t> </a:t>
            </a:r>
            <a:r>
              <a:rPr dirty="0" err="1"/>
              <a:t>لك</a:t>
            </a:r>
            <a:r>
              <a:rPr dirty="0"/>
              <a:t>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معرف</a:t>
            </a:r>
            <a:r>
              <a:rPr dirty="0"/>
              <a:t> Scopus Author ID: رقم </a:t>
            </a:r>
            <a:r>
              <a:rPr dirty="0" err="1"/>
              <a:t>فريد</a:t>
            </a:r>
            <a:r>
              <a:rPr dirty="0"/>
              <a:t> </a:t>
            </a:r>
            <a:r>
              <a:rPr dirty="0" err="1"/>
              <a:t>مكون</a:t>
            </a:r>
            <a:r>
              <a:rPr dirty="0"/>
              <a:t> من 11 </a:t>
            </a:r>
            <a:r>
              <a:rPr dirty="0" err="1"/>
              <a:t>رقماً</a:t>
            </a:r>
            <a:r>
              <a:rPr dirty="0"/>
              <a:t> </a:t>
            </a:r>
            <a:r>
              <a:rPr dirty="0" err="1"/>
              <a:t>يربط</a:t>
            </a:r>
            <a:r>
              <a:rPr dirty="0"/>
              <a:t> </a:t>
            </a:r>
            <a:r>
              <a:rPr dirty="0" err="1"/>
              <a:t>أبحاثك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قاعدة</a:t>
            </a:r>
            <a:r>
              <a:rPr dirty="0"/>
              <a:t> Scopus.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معرف</a:t>
            </a:r>
            <a:r>
              <a:rPr dirty="0"/>
              <a:t> Web of Science </a:t>
            </a:r>
            <a:r>
              <a:rPr dirty="0" err="1"/>
              <a:t>ResearcherID</a:t>
            </a:r>
            <a:r>
              <a:rPr dirty="0"/>
              <a:t>: </a:t>
            </a:r>
            <a:r>
              <a:rPr dirty="0" err="1"/>
              <a:t>يربط</a:t>
            </a:r>
            <a:r>
              <a:rPr dirty="0"/>
              <a:t> </a:t>
            </a:r>
            <a:r>
              <a:rPr dirty="0" err="1"/>
              <a:t>سجلك</a:t>
            </a:r>
            <a:r>
              <a:rPr dirty="0"/>
              <a:t> </a:t>
            </a:r>
            <a:r>
              <a:rPr dirty="0" err="1"/>
              <a:t>ومراجعاتك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WoS</a:t>
            </a:r>
            <a:r>
              <a:rPr dirty="0"/>
              <a:t> و </a:t>
            </a:r>
            <a:r>
              <a:rPr dirty="0" err="1"/>
              <a:t>Publons</a:t>
            </a:r>
            <a:r>
              <a:rPr dirty="0"/>
              <a:t> </a:t>
            </a:r>
            <a:r>
              <a:rPr dirty="0" err="1"/>
              <a:t>سابقاً</a:t>
            </a:r>
            <a:r>
              <a:rPr dirty="0"/>
              <a:t>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كلا</a:t>
            </a:r>
            <a:r>
              <a:rPr dirty="0"/>
              <a:t> </a:t>
            </a:r>
            <a:r>
              <a:rPr dirty="0" err="1"/>
              <a:t>المعرفين</a:t>
            </a:r>
            <a:r>
              <a:rPr dirty="0"/>
              <a:t> </a:t>
            </a:r>
            <a:r>
              <a:rPr dirty="0" err="1"/>
              <a:t>يعتمدان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الانتساب</a:t>
            </a:r>
            <a:r>
              <a:rPr dirty="0"/>
              <a:t> </a:t>
            </a:r>
            <a:r>
              <a:rPr dirty="0" err="1"/>
              <a:t>الصحيح</a:t>
            </a:r>
            <a:r>
              <a:rPr dirty="0"/>
              <a:t> </a:t>
            </a:r>
            <a:r>
              <a:rPr dirty="0" err="1"/>
              <a:t>لجامعة</a:t>
            </a:r>
            <a:r>
              <a:rPr dirty="0"/>
              <a:t> طيبة.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C2626"/>
                </a:solidFill>
                <a:latin typeface="Arial"/>
              </a:defRPr>
            </a:pPr>
            <a:r>
              <a:t>[المشكلة والحل]  مشكلة انقسام الحساب (Split Profiles)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الظاهرة الأكثر شيوعاً: يكتشف الباحث أن لديه حسابين أو ثلاثة في Scopus!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الأسباب: تغير طريقة كتابة الاسم، أو كتابة انتسابات مختلفة في أبحاث متعاقبة.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الأثر السلبي: تشتت الاستشهادات، انخفاض معامل h-index الرسمي في Scopus، وضعف مؤشرات الباحث والجامعة.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الحل: تقديم طلب دمج رسمي فوري عبر خدمة (Author Feedback Wizard) المجانية في Scopus.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ربط حساب Scopus بـ ORCID لضمان تحديث السجلين بضغطة زر واحدة.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نشاط عملي (4): محاكاة دمج وتصحيح ملفات Scopus المنقسمة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[مختبر المحاكاة - 6 دقائق]  مهام محاكاة Scopus في التطبيق التفاعلي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انتقل إلى نافذة: [محاكي Scopus &amp; WoS] في تطبيق الويب.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1: البحث عن باحث واكتشاف وجود ملفين منفصلين له في Scopus.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2: تحديد الملفين والضغط على زر [دمج الملفات / Request Merge].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3: مراجعة قائمة الأبحاث واستبعاد بحث دخيل واختيار الاسم المفضل.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4: اعتماد انتساب (Taibah University) كجهة عمل رئيسية.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5: تجربة خاصية المزامنة والتصدير المباشر إلى حساب ORCID.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[التطبيق الفعلي]  ماذا تفعل بعد الورشة في Scopus الفعلي؟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الدخول إلى: scopus.com/feedback/author/home.uri (متاح مجاناً دون اشتراك).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البحث عن اسمك بكافة التهجئات المحتملة.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في حال وجود أكثر من ملف، اتبع الخطوات التي تدربت عليها اليوم بدقة.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فريق Elsevier يقوم بمعالجة الطلب وتوحيد الملف خلال 48 إلى 72 ساعة عمل.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الاحتفاظ برقم التذكرة (Case Number) حتى يتم تأكيد الدمج النهائي.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مصفوفة المقارنة الشاملة للمنصات الأربع الكبرى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6304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[المعرف والمحرك]  ORCID و Google Scholar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ORCID: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الطبيعة: معرف رقمي موحد ومفتوح.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التغطية: شاملة لكل الإنتاج والجهات.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التحكم: يدوي ومؤتمت من الباحث.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القوة: المعيار الأساسي للنشر والتمويل.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Google Scholar: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الطبيعة: محرك بحث واكتشاف عالمي.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التغطية: الأوسع إطلاقاً (كل المصادر).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الميزة: سريع جداً ومجاني ومرئي للجميع.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463040"/>
            <a:ext cx="329184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[التواصل الأكاديمي]  ResearchGate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الطبيعة: شبكة تواصل أكاديمي وتفاعل اجتماعي.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الجمهور: باحثون، زملاء، طلاب دراسات عليا.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الميزة التنافسية: طلب النصوص الكاملة والمناقشات العلمية وتتبع قراءات الأبحاث أسبوعياً.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التنبيه: الانتباه لحقوق الناشر عند رفع الأبحاث.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الأثر: نشر سريع للسمعة وجذب الاستشهادات.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[المعيار المؤسسي]  Scopus / Web of Science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الطبيعة: قواعد بيانات مفهرسة ومحكمة صارمة.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الإنشاء: تلقائي بناءً على النشر المفهرس.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الأهمية: المعيار الرسمي للترقيات والتصنيفات والجوائز الوطنية والاعتماد الدولي.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الإدارة: مراجعة دورية لمنع انقسام الملفات.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القوة: قياس مؤشرات h-index و FWCI المعتمدة.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0" y="1645920"/>
            <a:ext cx="3959352" cy="502920"/>
          </a:xfrm>
          <a:prstGeom prst="roundRect">
            <a:avLst/>
          </a:prstGeom>
          <a:solidFill>
            <a:srgbClr val="122A6B"/>
          </a:solidFill>
          <a:ln w="15240">
            <a:solidFill>
              <a:srgbClr val="0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D8"/>
                </a:solidFill>
                <a:latin typeface="Arial"/>
              </a:defRPr>
            </a:pPr>
            <a:r>
              <a:t>المحطة التدريبية 02  |  الزمن المتوقع: 20 دقيقة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المحطة الثانية: فك شفرة مؤشرات الأثر البحثي والاقتباسات</a:t>
            </a:r>
          </a:p>
          <a:p>
            <a:pPr algn="ctr">
              <a:spcBef>
                <a:spcPts val="1000"/>
              </a:spcBef>
              <a:defRPr sz="1800" b="0">
                <a:solidFill>
                  <a:srgbClr val="00C4D8"/>
                </a:solidFill>
                <a:latin typeface="Arial"/>
              </a:defRPr>
            </a:pPr>
            <a:r>
              <a:t>معامل هيرش h-index • مؤشر i10 • مؤشر FWCI • المؤشرات البديلة Altmetrics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114800"/>
            <a:ext cx="8165592" cy="1371600"/>
          </a:xfrm>
          <a:prstGeom prst="roundRect">
            <a:avLst/>
          </a:prstGeom>
          <a:solidFill>
            <a:srgbClr val="122055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r">
              <a:spcAft>
                <a:spcPts val="600"/>
              </a:spcAft>
              <a:defRPr sz="1300" b="1">
                <a:solidFill>
                  <a:srgbClr val="00A887"/>
                </a:solidFill>
              </a:defRPr>
            </a:pPr>
            <a:r>
              <a:t>الأهداف والمخرجات المباشرة لهذه المحطة: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الفهم الرياضي والبياني الدقيق لمعامل هيرش (h-index) ونقاط قوته وحدوده.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التعرف على مؤشر الاقتباس الموزون حقلياً (FWCI) المعتمد في التصنيفات.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قياس الأثر المجتمعي والإعلامي والسياسي عبر المؤشرات البديلة (Altmetrics).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تطبيق عملي عبر المختبر التفاعلي لحساب معامل h والتنبؤ بنموه.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معامل هيرش (h-index): تعريفه، حسابه، ورسمه البياني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[المفهوم الرياضي]  التعريف العلمي الدقيق لمعامل h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ابتكره الفيزيائي خورخي هيرش (Jorge Hirsch) عام 2005.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التعريف: الباحث لديه معامل هيرش يساوي (h) إذا كان قد نشر (h) من الأوراق البحثية، بحيث نالت كل ورقة منها على الأقل (h) من الاستشهادات.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طريقة الحساب الرياضية البسيطة: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1. رتّب جميع أبحاثك تنازلياً حسب عدد الاستشهادات من الأكبر للأصغر.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2. ابحث عن آخر ورقة يكون فيها: [عدد الاستشهادات ≥ ترتيب الورقة].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3. هذا الترتيب هو معامل h-index الخاص بك!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rPr dirty="0"/>
              <a:t>[</a:t>
            </a:r>
            <a:r>
              <a:rPr dirty="0" err="1"/>
              <a:t>تطبيق</a:t>
            </a:r>
            <a:r>
              <a:rPr dirty="0"/>
              <a:t> </a:t>
            </a:r>
            <a:r>
              <a:rPr dirty="0" err="1"/>
              <a:t>رقمي</a:t>
            </a:r>
            <a:r>
              <a:rPr dirty="0"/>
              <a:t>]  </a:t>
            </a:r>
            <a:r>
              <a:rPr dirty="0" err="1"/>
              <a:t>مثال</a:t>
            </a:r>
            <a:r>
              <a:rPr dirty="0"/>
              <a:t> </a:t>
            </a:r>
            <a:r>
              <a:rPr dirty="0" err="1"/>
              <a:t>توضيحي</a:t>
            </a:r>
            <a:r>
              <a:rPr dirty="0"/>
              <a:t> </a:t>
            </a:r>
            <a:r>
              <a:rPr dirty="0" err="1"/>
              <a:t>بالأرقام</a:t>
            </a:r>
            <a:endParaRPr dirty="0"/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باحث</a:t>
            </a:r>
            <a:r>
              <a:rPr dirty="0"/>
              <a:t> </a:t>
            </a:r>
            <a:r>
              <a:rPr dirty="0" err="1"/>
              <a:t>لديه</a:t>
            </a:r>
            <a:r>
              <a:rPr dirty="0"/>
              <a:t> 5 </a:t>
            </a:r>
            <a:r>
              <a:rPr dirty="0" err="1"/>
              <a:t>أبحاث</a:t>
            </a:r>
            <a:r>
              <a:rPr dirty="0"/>
              <a:t> </a:t>
            </a:r>
            <a:r>
              <a:rPr dirty="0" err="1"/>
              <a:t>بالاستشهادات</a:t>
            </a:r>
            <a:r>
              <a:rPr dirty="0"/>
              <a:t> </a:t>
            </a:r>
            <a:r>
              <a:rPr dirty="0" err="1"/>
              <a:t>التالية</a:t>
            </a:r>
            <a:r>
              <a:rPr dirty="0"/>
              <a:t>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  • </a:t>
            </a:r>
            <a:r>
              <a:rPr dirty="0" err="1"/>
              <a:t>البحث</a:t>
            </a:r>
            <a:r>
              <a:rPr dirty="0"/>
              <a:t> 1 (</a:t>
            </a:r>
            <a:r>
              <a:rPr dirty="0" err="1"/>
              <a:t>الترتيب</a:t>
            </a:r>
            <a:r>
              <a:rPr dirty="0"/>
              <a:t> 1): 45 </a:t>
            </a:r>
            <a:r>
              <a:rPr dirty="0" err="1"/>
              <a:t>استشهاداً</a:t>
            </a:r>
            <a:r>
              <a:rPr dirty="0"/>
              <a:t> (45 ≥ 1) ✔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  • </a:t>
            </a:r>
            <a:r>
              <a:rPr dirty="0" err="1"/>
              <a:t>البحث</a:t>
            </a:r>
            <a:r>
              <a:rPr dirty="0"/>
              <a:t> 2 (</a:t>
            </a:r>
            <a:r>
              <a:rPr dirty="0" err="1"/>
              <a:t>الترتيب</a:t>
            </a:r>
            <a:r>
              <a:rPr dirty="0"/>
              <a:t> 2): 20 </a:t>
            </a:r>
            <a:r>
              <a:rPr dirty="0" err="1"/>
              <a:t>استشهاداً</a:t>
            </a:r>
            <a:r>
              <a:rPr dirty="0"/>
              <a:t> (20 ≥ 2) ✔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  • </a:t>
            </a:r>
            <a:r>
              <a:rPr dirty="0" err="1"/>
              <a:t>البحث</a:t>
            </a:r>
            <a:r>
              <a:rPr dirty="0"/>
              <a:t> 3 (</a:t>
            </a:r>
            <a:r>
              <a:rPr dirty="0" err="1"/>
              <a:t>الترتيب</a:t>
            </a:r>
            <a:r>
              <a:rPr dirty="0"/>
              <a:t> 3): 8 </a:t>
            </a:r>
            <a:r>
              <a:rPr dirty="0" err="1"/>
              <a:t>استشهادات</a:t>
            </a:r>
            <a:r>
              <a:rPr dirty="0"/>
              <a:t> (8 ≥ 3) ✔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  • </a:t>
            </a:r>
            <a:r>
              <a:rPr dirty="0" err="1"/>
              <a:t>البحث</a:t>
            </a:r>
            <a:r>
              <a:rPr dirty="0"/>
              <a:t> 4 (</a:t>
            </a:r>
            <a:r>
              <a:rPr dirty="0" err="1"/>
              <a:t>الترتيب</a:t>
            </a:r>
            <a:r>
              <a:rPr dirty="0"/>
              <a:t> 4): 4 </a:t>
            </a:r>
            <a:r>
              <a:rPr dirty="0" err="1"/>
              <a:t>استشهادات</a:t>
            </a:r>
            <a:r>
              <a:rPr dirty="0"/>
              <a:t> (4 ≥ 4) ✔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  • </a:t>
            </a:r>
            <a:r>
              <a:rPr dirty="0" err="1"/>
              <a:t>البحث</a:t>
            </a:r>
            <a:r>
              <a:rPr dirty="0"/>
              <a:t> 5 (</a:t>
            </a:r>
            <a:r>
              <a:rPr dirty="0" err="1"/>
              <a:t>الترتيب</a:t>
            </a:r>
            <a:r>
              <a:rPr dirty="0"/>
              <a:t> 5): 2 </a:t>
            </a:r>
            <a:r>
              <a:rPr dirty="0" err="1"/>
              <a:t>استشهادين</a:t>
            </a:r>
            <a:r>
              <a:rPr dirty="0"/>
              <a:t> (2 </a:t>
            </a:r>
            <a:r>
              <a:rPr dirty="0" err="1"/>
              <a:t>ليست</a:t>
            </a:r>
            <a:r>
              <a:rPr dirty="0"/>
              <a:t> ≥ 5) ✘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النتيجة</a:t>
            </a:r>
            <a:r>
              <a:rPr dirty="0"/>
              <a:t>: </a:t>
            </a:r>
            <a:r>
              <a:rPr dirty="0" err="1"/>
              <a:t>معامل</a:t>
            </a:r>
            <a:r>
              <a:rPr dirty="0"/>
              <a:t> h-index </a:t>
            </a:r>
            <a:r>
              <a:rPr dirty="0" err="1"/>
              <a:t>لهذا</a:t>
            </a:r>
            <a:r>
              <a:rPr dirty="0"/>
              <a:t> </a:t>
            </a:r>
            <a:r>
              <a:rPr dirty="0" err="1"/>
              <a:t>الباحث</a:t>
            </a:r>
            <a:r>
              <a:rPr dirty="0"/>
              <a:t> </a:t>
            </a:r>
            <a:r>
              <a:rPr dirty="0" err="1"/>
              <a:t>هو</a:t>
            </a:r>
            <a:r>
              <a:rPr dirty="0"/>
              <a:t> (4).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لكي</a:t>
            </a:r>
            <a:r>
              <a:rPr dirty="0"/>
              <a:t> </a:t>
            </a:r>
            <a:r>
              <a:rPr dirty="0" err="1"/>
              <a:t>يصبح</a:t>
            </a:r>
            <a:r>
              <a:rPr dirty="0"/>
              <a:t> </a:t>
            </a:r>
            <a:r>
              <a:rPr dirty="0" err="1"/>
              <a:t>معامله</a:t>
            </a:r>
            <a:r>
              <a:rPr dirty="0"/>
              <a:t> (5)، </a:t>
            </a:r>
            <a:r>
              <a:rPr dirty="0" err="1"/>
              <a:t>يحتاج</a:t>
            </a:r>
            <a:r>
              <a:rPr dirty="0"/>
              <a:t> </a:t>
            </a:r>
            <a:r>
              <a:rPr dirty="0" err="1"/>
              <a:t>البحث</a:t>
            </a:r>
            <a:r>
              <a:rPr dirty="0"/>
              <a:t> رقم 5 </a:t>
            </a:r>
            <a:r>
              <a:rPr dirty="0" err="1"/>
              <a:t>إلى</a:t>
            </a:r>
            <a:r>
              <a:rPr dirty="0"/>
              <a:t> 3 </a:t>
            </a:r>
            <a:r>
              <a:rPr dirty="0" err="1"/>
              <a:t>استشهادات</a:t>
            </a:r>
            <a:r>
              <a:rPr dirty="0"/>
              <a:t> </a:t>
            </a:r>
            <a:r>
              <a:rPr dirty="0" err="1"/>
              <a:t>إضافية</a:t>
            </a:r>
            <a:r>
              <a:rPr dirty="0"/>
              <a:t> </a:t>
            </a:r>
            <a:r>
              <a:rPr dirty="0" err="1"/>
              <a:t>فقط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تحليل نقدي لمعامل h-index: حالات مقارنة وما يخفيه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[مفارقة المقارنة]  دراسة حالة: باحث (أ) مقابل باحث (ب)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الباحث (أ) - استشهاد تراكمي ضخم: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نشر 4 أبحاث نالت: [200, 150, 80, 70]. المجموع: 500 استشهاد.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معامل هيرش له = (4) فقط!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الباحث (ب) - أبحاث عديدة باقتباسات معتدلة: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نشر 10 أبحاث نالت كل منها: [10, 10, 10, 10, 10, 10, 10, 10, 10, 10].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المجموع: 100 استشهاد فقط.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معامل هيرش له = (10)!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المفارقة: الباحث (ب) معامله أكثر من ضعف الباحث (أ) رغم أن الباحث (أ) نال 5 أضعاف الاستشهادات!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C2626"/>
                </a:solidFill>
                <a:latin typeface="Arial"/>
              </a:defRPr>
            </a:pPr>
            <a:r>
              <a:t>[الحدود المنهجية]  العيوب الهيكلية لمعامل h-index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التحيز لعمر الباحث (Career Age Bias): ينحاز تلقائياً للأساتذة القدامى على حساب الشباب لأن تراكم الاقتباسات يحتاج سنوات.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اختلاف الحقول العلمية: معدل الاستشهاد في العلوم الطبية الحيوية أعلى بعشرات المرات من الرياضيات أو الدراسات الإنسانية.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إهمال ترتيب المؤلفين: يعامل المؤلف الأول والمؤلف العاشر بنفس النتيجة تماماً.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الخلاصة: h-index مؤشر مفيد ومهم ولكنه لا يجوز أن يكون المقياس الوحيد لتقييم جدارة الباحث!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مؤشر i10-index وإجمالي الاستشهادات (Total Citations)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[مؤشر i10]  مؤشر i10-index الخاص بـ Google Scholar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ابتكرته شركة Google عام 2011 لمرافقة مؤشر هيرش.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التعريف: عدد الأوراق البحثية للباحث التي نال كل منها (10) استشهادات على الأقل.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مؤشر بسيط وسهل الفهم لقياس عدد الأبحاث ذات الأثر الملموس.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يساعد الباحثين الشباب وحديثي التخرج في إبراز أثر أبحاثهم سريعاً قبل تضخم معامل h.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يظهر مباشرة في لوحة معلومات حسابك على Google Scholar.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[مجموع الاقتباسات]  إجمالي الاستشهادات ومعدل النمو السنوي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إجمالي الاستشهادات (Total Citations): المجموع الكلي لكل استشهاد نالته أي ورقة منسوبة لك.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الرسم البياني السنوي: يظهر مسار نمو تأثيرك العلمي وتصاعد الاهتمام بأبحاثك.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استشهادات آخر 5 سنوات (Since 2021): معيار حيوي يوضح حداثة نشاطك البحثي الحالي.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الأبحاث قاطرة الاستشهاد (Citation Engines): عادة ما تمثل 20% من أبحاث الباحث أكثر من 80% من مجموع استشهاداته الكلي (مبدأ باريتو).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مؤشر الاقتباس الموزون حقلياً (FWCI): المعيار الذهبي في Scopus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[المعيار العادل]  ما هو مؤشر FWCI ولماذا هو الأعدل؟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Field-Weighted Citation Impact (FWCI): المؤشر المعتمد لدى Elsevier وهيئة تقويم التعليم (ETEC).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يقارن عدد الاستشهادات التي نالها بحثك بالمتوسط العالمي المتوقع لأبحاث من نفس: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1. التخصص الدقيق (Subject Area).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2. نوع الوثيقة (مقالة، مراجعة، مؤتمر).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3. سنة النشر (Year of Publication).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قيمة (1.00) تعني أن بحثك يؤدي تماماً عند المتوسط العالمي لإنتاج العالم في تخصصك.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قيمة (1.50) تعني أن بحثك استُشهد به بنسبة 50% أكثر من المتوسط العالمي!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[الأثر المؤسسي]  تطبيقات FWCI في ترقيات ودعم جامعة طيبة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يحل مشكلة المقارنة الظالمة بين التخصصات الطبية والهندسية والإنسانية.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تعتمد عليه تصنيفات الجامعات (THE World University Rankings) لقياس جودة البحث.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استهداف مؤشر FWCI &gt; 1.20 في أبحاثك يضعك ضمن نخبة الباحثين المؤثرين عالمياً.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أوراق المراجعة المنهجية (Systematic Reviews) والأوراق ذات التعاون الدولي تحقق عادة أعلى معدلات FWCI.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المؤشرات البديلة (Altmetrics): قياس الحضور المجتمعي والسياسي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[الأثر الشامل]  ما وراء الاستشهادات الأكاديمية التقليدية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الاستشهادات في المجلات تحتاج عادة من سنة إلى 3 سنوات لتظهر في Scopus و WoS.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المؤشرات البديلة (Alternative Metrics - Altmetrics): ترصد التأثير الفوري لبحثك عبر: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الاستشهاد في وثائق السياسات الحكومية ومنظمة الصحة العالمية (Policy Documents).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براءات الاختراع والتطبيقات الصناعية المعتمدة (Patents).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التغطيات الإعلامية والصحف العالمية المرموقة (News Mentions).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التفاعل عبر شبكات التواصل (X / Twitter, LinkedIn, Wikipedia).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الحفظ في منصات إدارة المراجع مثل Mendeley.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[دونات الألتمركس]  شعار Altmetric Donut وألوانه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دونات الألتمركس متعددة الألوان؛ كل لون يمثل مصدراً مختلفاً للأثر: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الأزرق الداكن: تويتر / إكس.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الأحمر: الأخبار والصحف العالمية.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الأخضر الفاتح: ويكيبيديا.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البنفسجي: وثائق السياسات وصناع القرار.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ارتفاع مؤشر Altmetric يعطي إشارة مبكرة قوية بأن البحث سينال استشهادات أكاديمية عالية مستقبلاً.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نشاط عملي (5): المختبر التفاعلي لحساب معامل h ومحاكاة القفزات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[مختبر المحاكاة - 6 دقائق]  مهام المختبر التفاعلي في تطبيق الويب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توجه إلى نافذة: [المختبر التفاعلي لحساب معامل h] في تطبيق الويب.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1: تحريك أشرطة الاستشهاد للأوراق الـ 10 الافتراضية وملاحظة حركة خط العتبة (Threshold Line).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2: اختبار حالة الهضبة (Plateau): زيادة استشهادات الورقة الأولى من 50 إلى 100 وملاحظة ثبات h-index!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3: تفعيل مؤشر [الورقة الذهبية المستهدفة]: اكتشف الورقة التي يفصلها استشهاد واحد فقط عن رفع معاملك بالكامل.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المهمة 4: إدخال بيانات أبحاثك الحقيقية لرؤية خارطة طريقك لرفع المعامل في المرحلة القادمة.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[الاستراتيجية الذكية]  الاستراتيجية الذهبية لرفع معامل h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قاعدة التركيز الذكي: لا توزع جهدك الترويجي عشوائياً.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حدد أوراقك البحثية التي تقع تحت خط الـ h-index مباشرة بفارق استشهاد أو اثنين.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قم بتنشيط هذه الأوراق المحددة بمشاركتها في المؤتمرات وعبر LinkedIn وإرسالها للمتخصصين في مجالك.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كل استشهاد جديد تحصده هذه الورقة الذهبية يرفع معامل هيرش لحسابك بالكامل درجة كاملة!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0" y="1645920"/>
            <a:ext cx="3959352" cy="502920"/>
          </a:xfrm>
          <a:prstGeom prst="roundRect">
            <a:avLst/>
          </a:prstGeom>
          <a:solidFill>
            <a:srgbClr val="122A6B"/>
          </a:solidFill>
          <a:ln w="15240">
            <a:solidFill>
              <a:srgbClr val="0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D8"/>
                </a:solidFill>
                <a:latin typeface="Arial"/>
              </a:defRPr>
            </a:pPr>
            <a:r>
              <a:t>المحطة التدريبية 03  |  الزمن المتوقع: 15 دقيقة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المحطة الثالثة: استراتيجيات مضاعفة الاستشهاد والشراكات الدولية</a:t>
            </a:r>
          </a:p>
          <a:p>
            <a:pPr algn="ctr">
              <a:spcBef>
                <a:spcPts val="1000"/>
              </a:spcBef>
              <a:defRPr sz="1800" b="0">
                <a:solidFill>
                  <a:srgbClr val="00C4D8"/>
                </a:solidFill>
                <a:latin typeface="Arial"/>
              </a:defRPr>
            </a:pPr>
            <a:r>
              <a:t>الوصول المفتوح • تحسين محركات البحث الأكاديمية (SEO) • بناء شبكات التعاون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114800"/>
            <a:ext cx="8165592" cy="1371600"/>
          </a:xfrm>
          <a:prstGeom prst="roundRect">
            <a:avLst/>
          </a:prstGeom>
          <a:solidFill>
            <a:srgbClr val="122055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r">
              <a:spcAft>
                <a:spcPts val="600"/>
              </a:spcAft>
              <a:defRPr sz="1300" b="1">
                <a:solidFill>
                  <a:srgbClr val="00A887"/>
                </a:solidFill>
              </a:defRPr>
            </a:pPr>
            <a:r>
              <a:t>الأهداف والمخرجات المباشرة لهذه المحطة: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استثمار ميزة الوصول المفتوح (Open Access Advantage) لرفع القراءات.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هندسة العناوين والملخصات لزيادة الاكتشاف في محركات البحث الأكاديمية.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استراتيجيات تشكيل وتوسيع شبكات التعاون والفرق البحثية الدولية.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ميزة الوصول المفتوح (The Open Access Citation Advantage)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[تفوق الوصول المفتوح]  حقائق مثبتة بالأرقام حول الوصول المفتوح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الأبحاث المنشورة بنظام الوصول المفتوح (Open Access) تنال استشهادات أكثر بنسبة تتراوح بين 30% إلى 200% مقارنة بالأبحاث المغلقة المدفوعة.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تحصل على عدد تحميلات وقراءات (Downloads / Views) أعلى بما يعادل 4 أضعاف.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تنتشر بين الباحثين في الدول النامية والجامعات التي لا تملك اشتراكات سنوية مكلفة في دور النشر.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تخدم مستهدفات جامعة طيبة في سرعة تداول المعرفة والمشاركة العلمية العالمية.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[المسارات الثلاثة]  مسارات الوصول المفتوح وخيارات الباحث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الوصول المفتوح الذهبي (Gold OA): نشر الورقة في مجلة مفتوحة بالكامل وتكون متاحة للجميع فوراً.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الوصول المفتوح الأخضر (Green OA / Self-archiving):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نشر البحث في مجلة اشتراكات تقليدية بدون دفع أي رسوم.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ثم إيداع نسخة المؤلف المقبولة (AAM) في مستودع جامعة طيبة الرقمي أو مستودعات التخصص (مثل arXiv و bioRxiv و SSRN).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الوصول المفتوح الماسي (Diamond OA): مجلات مفتوحة بالكامل مدعومة ومجانية للمؤلف والقارئ معاً.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تحسين محركات البحث الأكاديمية (Academic SEO)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[هندسة المحتوى]  كيف تبحث خوارزميات Scholar و PubMed؟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صياغة عنوان البحث (Article Title):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ضع الكلمات المفتاحية الرئيسية في أول 65 حرفاً من العنوان.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تجنب العناوين الغامضة أو الشعرية؛ استخدم عناوين تصف المشكلة والمنهجية والنتيجة بدقة.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مثال ضعيف: (A Novel Insight into Healing) | مثال ممتاز: (Comparative Efficacy of Low-Dose CT vs MRI in Early Detection of Spinal Injuries: A Multicenter Cohort).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الملخص التنفيذي (Structured Abstract):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تكرار المصطلحات المفتاحية بذكاء وطبيعية (3 إلى 4 مرات) في الملخص.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توضيح سياق الدراسة والأدوات المستخدمة والنتائج القابلة للاقتباس المباشر.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[الكلمات المفتاحية]  اختيار الكلمات المفتاحية (Keywords)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لا تكرر الكلمات الموجودة بالفعل في العنوان؛ استغل حقل الكلمات المفتاحية لمصطلحات بديلة ومرادفات يبحث بها الآخرون.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استخدم المكانز الطبية والعلمية المعتمدة (مثل MeSH في الطب والعلوم الصحية).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فحص العبارات الأكثر بحثاً في تخصصك عبر Google Trends و Scholar Metrics.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كلما كان ظهور بحثك في الصفحة الأولى لنتائج البحث أعلى، تضاعفت احتمالية اقتباسه!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بناء شبكات التعاون والفرق البحثية الدولية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[أثر التعاون]  قوة النشر الدولي المشترك (International Co-authorship)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الأبحاث التي تضم مؤلفين دوليين من عدة دول تحظى بـ 3 أضعاف الاستشهادات مقارنة بالأبحاث المحلية الفردية.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مؤشر رئيسي في تصنيف الجامعات (International Research Network - IRN).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تكامل الخبرات والموارد: الوصول إلى مختبرات متقدمة، عينات نادرة، وحسابات سحابية فائقة.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توسيع دائرة الاقتباس الجغرافي: أبحاثك تصبح معروفة ومقروءة في جامعات شركائك في أوروبا وأمريكا وآسيا.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[خطوات الشراكة]  كيف تستقطب شريكاً بحثياً دولياً مرموقاً؟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1. الاستكشاف الذكي: استخدم Scopus و Scholar لتحديد الباحثين الرواد في تخصصك الدقيق.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2. تحديد نقطة التقاء واقعية: ما القيمة المضافة التي ستقدمها لمجموعتهم؟ (بيانات محلية فريدة، عينات مرضى، تمويل مشترك، أو تحليل تقني متخصص).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3. الخطاب الاحترافي المقنع (Pitch Email): خطاب مقتضب ومباشر يشيد بآخر أوراقهم ويقترح مشروعاً محدداً بوضوح.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4. سنطبق الآن صياغة هذا الخطاب باحترافية عبر مختبر الذكاء الاصطناعي الموجه.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0" y="1645920"/>
            <a:ext cx="3959352" cy="502920"/>
          </a:xfrm>
          <a:prstGeom prst="roundRect">
            <a:avLst/>
          </a:prstGeom>
          <a:solidFill>
            <a:srgbClr val="122A6B"/>
          </a:solidFill>
          <a:ln w="15240">
            <a:solidFill>
              <a:srgbClr val="0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D8"/>
                </a:solidFill>
                <a:latin typeface="Arial"/>
              </a:defRPr>
            </a:pPr>
            <a:r>
              <a:t>المحطة التدريبية 04  |  الزمن المتوقع: 20 دقيقة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المحطة الرابعة: مختبر الذكاء الاصطناعي التوليدي المنضبط</a:t>
            </a:r>
          </a:p>
          <a:p>
            <a:pPr algn="ctr">
              <a:spcBef>
                <a:spcPts val="1000"/>
              </a:spcBef>
              <a:defRPr sz="1800" b="0">
                <a:solidFill>
                  <a:srgbClr val="00C4D8"/>
                </a:solidFill>
                <a:latin typeface="Arial"/>
              </a:defRPr>
            </a:pPr>
            <a:r>
              <a:t>Google AI Studio • Gemini Flash • الأوامر الموجهة المقيدة (Prompt Guardrails)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114800"/>
            <a:ext cx="8165592" cy="1371600"/>
          </a:xfrm>
          <a:prstGeom prst="roundRect">
            <a:avLst/>
          </a:prstGeom>
          <a:solidFill>
            <a:srgbClr val="122055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r">
              <a:spcAft>
                <a:spcPts val="600"/>
              </a:spcAft>
              <a:defRPr sz="1300" b="1">
                <a:solidFill>
                  <a:srgbClr val="00A887"/>
                </a:solidFill>
              </a:defRPr>
            </a:pPr>
            <a:r>
              <a:t>الأهداف والمخرجات المباشرة لهذه المحطة: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حوكمة استخدام الذكاء الاصطناعي في البحث الأكاديمي وضمان النزاهة العلمية.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توظيف الأوامر الموجهة المقيدة بملء الفراغات لمنع الهلوسة وإساءة الاستخدام.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تطبيق 4 أدوات ذكية: محسّن العناوين، الملخص التبسيطي، خطاب الشراكة، وخطة الترويج.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تجربة حية متكاملة داخل تطبيق الويب بنموذج Gemini Flash.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حوكمة الذكاء الاصطناعي: الأوامر الموجهة المقيدة (Prompt Guardrails)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[النزاهة الأكاديمية]  مبدأ النزاهة والحد من إساءة الاستخدام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الذكاء الاصطناعي ليس مؤلفاً بديلاً (Author)، ولا يمتلك الأهلية الأخلاقية للأصالة.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الاستخدام السليم: مساعد بحثي استشاري لتحسين الصياغة، التدقيق، وتحليل القنوات والترويج.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مخاطر المدخلات الحرة المفتوحة في الورش التدريبية: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استهلاك غير منضبط للحصص (API Quota).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الحصول على مخرجات مضللة أو هلوسة (Hallucination) غير أكاديمية.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الحل المعتمد في تطبيقنا: الأوامر الموجهة المقيدة والمغلقة (Locked Prompt Templates).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[منهجية العمل]  كيف تعمل قوالبنا المقيدة في التطبيق؟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الأمر الموجه الأساسي (System Prompt) مصمم مسبقاً ومحكم أكاديمياً ومغلق من التعديل.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المتدرب يطلب منه فقط ملء فراغات محددة تناسب بحثه وتخصصه: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[التخصص الدقيق] + [عنوان المسودة] + [الكلمات المفتاحية] + [الجهة المستهدفة].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يتم دمج مدخلاتك داخل القالب الآمن وإرسالها لنموذج Gemini Flash عبر الخادم بأمان.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تحصل على نتائج أكاديمية منضبطة وعالية الجودة متوافقة مع معايير النشر العالمي.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أداة AI (1): مُحسّن العناوين والكلمات المفتاحية (Academic SEO)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[تطبيق عملي - 4 دقائق]  مهام الأداة في تطبيق الويب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انتقل إلى نافذة: [مختبر الذكاء الاصطناعي] وافتح [أداة تحسين العنوان والكلمات].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الفراغات المطلوبة منك: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1. تخصصك الدقيق (مثال: تقنية الأشعة والتصوير المقطعي).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2. العنوان المقترح أو فكرة البحث الحالية.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3. الكلمات المفتاحية الأساسية في دراستك.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اضغط على زر [توليد الخيارات المحسنة عبر Gemini Flash].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المخرجات: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3 صياغات بديلة للعناوين مصنفة حسب الجاذبية وسهولة الاسترجاع في Scholar.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قائمة كلمات مفتاحية استراتيجية (MeSH) مقترحة لزيادة الاقتباس.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[الفائدة البحثية]  القيمة المضافة للأداة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تحويل العناوين الوصفية السردية إلى عناوين محددة الأثر والنتائج.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ضمان مطابقة الكلمات لأحدث مصطلحات الفهرسة العالمية.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توفير وقت الباحث في صياغة العناوين التنافسية المناسبة للمجلات من الفئة الأولى (Q1).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إمكانية نسخ النتائج وحفظها في خطتك الشخصية بنقرة زر واحدة.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أداة AI (2): مُولّد الملخص التبسيطي للجمهور والإعلام (Lay Summary)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[تطبيق عملي - 4 دقائق]  مهام الأداة في تطبيق الويب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انتقل إلى: [أداة الملخص التبسيطي ونشر الأثر المجتمعي].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الفراغات المطلوبة منك: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1. التخصص والجمهور المستهدف (إعلاميون، عموم المجتمع، أو صناع قرار).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2. ملخص البحث التقني أو الفكرة الجوهرية للنتائج.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اضغط على [توليد الملخص التبسيطي].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المخرجات: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ملخص علمي مبسط ومحكم بلغة واضحة خالية من التعقيد الاصطلاحي الجاف.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مسودة منشور احترافي جاهز للمشاركة على منصة LinkedIn و X.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بيان بأهمية البحث للرأي العام والتطبيق العملي في المجتمع.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[الأثر المجتمعي]  لماذا يحتاج الباحث للملخص التبسيطي؟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تطلبه كبرى دور النشر والمجلات المرموقة اليوم (مثل Elsevier و PNAS).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المفتاح الأول لرفع مؤشرات Altmetrics وجذب التغطيات الصحفية.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يمكن صناع القرار في وزارة الصحة أو التعليم من الاستفادة من مخرجاتك.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إبراز جهود جامعة طيبة في خدمة المجتمع وحل التحديات الوطنية.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أداة AI (3): صانع خطابات الشراكات الدولية (Collaboration Pitch)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[تطبيق عملي - 4 دقائق]  مهام الأداة في تطبيق الويب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انتقل إلى: [أداة صانع خطابات استقطاب الشراكات الدولية].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الفراغات المطلوبة منك: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1. اسم الباحث أو المختبر الدولي المستهدف وجهته الأكاديمية.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2. موضوع أو ورقة الباحث التي أثارت اهتمامك وتريد البناء عليها.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3. ما الذي تقدمه أنت ومجموعتك البحثية بجامعة طيبة كقيمة مضافة.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اضغط على [صياغة خطاب الشراكة الاحترافي بالإنجليزية].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المخرجات: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رسالة بريد إلكتروني أكاديمية محكمة باللغة الإنجليزية وفق التقاليد الجامعية العالمية، مقتضبة وواضحة وجاذبة للرد والتعاون.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[البروتوكول الأكاديمي]  معايير الخطاب الناجح المقبول عالمياً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الابتعاد عن التملق المبالغ فيه؛ التركيز على الاحترام العلمي والمشترك البحثي.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الوضوح في طلب الاجتماع الافتراضي الأولي (مثال: لقاء 15 دقيقة عبر Zoom).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إبراز الإمكانات الحقيقية والتزام جامعة طيبة بدعم المشاريع النوعية.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تجنب الرسائل الطويلة المجهدة؛ الخطاب الفعال لا يتجاوز 250 إلى 300 كلمة.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أداة AI (4): خطة الترويج الرقمي للبحث بعد القبول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[تطبيق عملي - 4 دقائق]  مهام الأداة في تطبيق الويب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انتقل إلى: [أداة خطة الترويج والنشر بعد القبول].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الفراغات المطلوبة منك: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1. نوع الورقة (بحث أصيل Original / مراجعة Review / تقرير حالة Case Report).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2. حالة النشر (وصول مفتوح OA أو اشتراكات تقليدية).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3. المنصات المتوفرة لديك (ORCID, RG, LinkedIn, مستودع الجامعة).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اضغط على [توليد خطة الترويج الزمنية].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المخرجات: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جدول زمني تفصيلي للمهام التسويقية للبحث: الأسبوع 1، الشهر 1، والشهر 3.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قائمة بالوسوم والشبكات والمستودعات المناسبة لطبيعة بحثك.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[الواجب المعرفي]  الترويج العلمي ليس تفاخراً بل واجب!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نشر البحث هو بداية الرحلة وليس نهايتها.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واجبك كباحث إيصال المعرفة لمن يحتاجها من الأطباء والعلماء وصناع القرار.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الأبحاث التي تتبع خطة ترويجية منتظمة تتضاعف استشهاداتها في أول سنتين.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الحفاظ على حضورك النشط يجعلك مرجعاً موثوقاً للصحافة والمجلات كمحكم ومستشار.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0" y="1645920"/>
            <a:ext cx="3959352" cy="502920"/>
          </a:xfrm>
          <a:prstGeom prst="roundRect">
            <a:avLst/>
          </a:prstGeom>
          <a:solidFill>
            <a:srgbClr val="122A6B"/>
          </a:solidFill>
          <a:ln w="15240">
            <a:solidFill>
              <a:srgbClr val="0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C4D8"/>
                </a:solidFill>
                <a:latin typeface="Arial"/>
              </a:defRPr>
            </a:pPr>
            <a:r>
              <a:t>المحطة التدريبية 05  |  الزمن المتوقع: 05 دقائق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المحطة الخامسة: خطة العمل الفردية والختام</a:t>
            </a:r>
          </a:p>
          <a:p>
            <a:pPr algn="ctr">
              <a:spcBef>
                <a:spcPts val="1000"/>
              </a:spcBef>
              <a:defRPr sz="1800" b="0">
                <a:solidFill>
                  <a:srgbClr val="00C4D8"/>
                </a:solidFill>
                <a:latin typeface="Arial"/>
              </a:defRPr>
            </a:pPr>
            <a:r>
              <a:t>خطة الـ 30 يوماً • تقرير النضج الرقمي الشخصي • التوصيات المستدامة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114800"/>
            <a:ext cx="8165592" cy="1371600"/>
          </a:xfrm>
          <a:prstGeom prst="roundRect">
            <a:avLst/>
          </a:prstGeom>
          <a:solidFill>
            <a:srgbClr val="122055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r">
              <a:spcAft>
                <a:spcPts val="600"/>
              </a:spcAft>
              <a:defRPr sz="1300" b="1">
                <a:solidFill>
                  <a:srgbClr val="00A887"/>
                </a:solidFill>
              </a:defRPr>
            </a:pPr>
            <a:r>
              <a:t>الأهداف والمخرجات المباشرة لهذه المحطة: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صياغة واعتماد خطة العمل الشخصية للـ 30 يوماً الأولى بعد الورشة.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تصدير تقرير النضج الرقمي وخريطة الطريق الفردية بصيغة جاهزة للطباعة.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✔  الاستبيان التقييمي للورشة واعتماد التوصيات الختامية وتوزيع قنوات التواصل.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خطة العمل للـ 30 يوماً الأولى بعد الورشة (Checklist)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[الأسبوع 1: التأسيس]  الأسبوع الأول: التأسيس والتوثيق الموحد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اليوم 1 - 2: إنشاء حساب ORCID أو تدقيقه وإضافة انتساب جامعة طيبة وضبط الخصوصية على 'Everyone'.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اليوم 3 - 4: الدخول إلى Google Scholar، توثيق إيميل الجامعة (@taibahu.edu.sa)، دمج الأبحاث المكررة، وجعل الملف عاماً.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اليوم 5: تفعيل حساب ResearchGate وإضافة الاهتمامات البحثية وطلب الانضمام لقسمك العلمي بالجامعة.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اليوم 6 - 7: البحث في Scopus عن وجود أي ملفات منقسمة وتقديم طلب الدمج الفوري.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[الأسابيع 2-4: الأثر]  الأسابيع 2 إلى 4: الانطلاق والأثر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الأسبوع 2: إيداع نسخ أبحاثك المقبولة (AAM) في المستودعات المفتوحة المتوافقة مع Sherpa Romeo.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الأسبوع 3: تحديد 'الورقة الذهبية' الأقرب لرفع معامل h-index وصياغة ملخص تبسيطي لها عبر أدوات الذكاء الاصطناعي ومشاركتها في LinkedIn.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الأسبوع 4: تحديد باحثين دوليين مرموقين في مجالك وصياغة أول خطاب استقطاب شراكة بحثية.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اليوم 30: إعادة قياس نضجك الرقمي والاحتفال بالانتقال إلى فئة 'الباحث المتميز'!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A887"/>
                </a:solidFill>
                <a:latin typeface="Arial"/>
              </a:defRPr>
            </a:pPr>
            <a:r>
              <a:t>جامعة طيبة  |  عمادة التطوير والجودة  |  الهوية الرقمية الأكاديمية والحضور البحثي العالمي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B1A48"/>
                </a:solidFill>
                <a:latin typeface="Arial"/>
              </a:defRPr>
            </a:pPr>
            <a:r>
              <a:t>إصدار وثيقة خطة العمل الشخصية والشهادة من تطبيق الويب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30352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0A887"/>
                </a:solidFill>
                <a:latin typeface="Arial"/>
              </a:defRPr>
            </a:pPr>
            <a:r>
              <a:t>[التوثيق الشخصي]  خطوات إصدار وثيقتك الفردية الآن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انتقل إلى الشاشة الأخيرة في تطبيق الويب: [خطة العمل والتقييم الختامي].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اكتب اسمك الثلاثي وقسمك العلمي وكلية انتسابك بجامعة طيبة.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التطبيق سيجمع تلقائياً: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نتيجة اختبار النضج الرقمي التي حصلت عليها في البداية.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شارات إتمام المحاكيات الأربعة (ORCID, Scholar, RG, Scopus).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ملخص مخرجاتك من مختبر الذكاء الاصطناعي.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اضغط على زر [طباعة / حفظ خطة العمل الشخصية PDF].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احتفظ بهذه الوثيقة كدليل إرشادي يوجهك في خطتك البحثية القادمة.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9377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/>
          <a:lstStyle/>
          <a:p>
            <a:pPr algn="r">
              <a:spcAft>
                <a:spcPts val="800"/>
              </a:spcAft>
              <a:defRPr sz="1500" b="1">
                <a:solidFill>
                  <a:srgbClr val="0B1A48"/>
                </a:solidFill>
                <a:latin typeface="Arial"/>
              </a:defRPr>
            </a:pPr>
            <a:r>
              <a:t>[الموسوعة المستمرة]  أدلة الاستخدام لما بعد الورشة المتاحة بالتطبيق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التطبيق يظل متاحاً لك عبر الرابط السحابي مع موسوعة أدلة شاملة: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الدليل المصور الكامل لتوثيق وحل مشكلات ORCID.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دليل صيانة وتنظيف وتأكيد أبحاث Google Scholar.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دليل سياسات النشر الأخضر وحقوق الناشرين في ResearchGate.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دليل طلبات تصحيح ودعم Scopus و Clarivate.</a:t>
            </a:r>
          </a:p>
          <a:p>
            <a:pPr algn="r">
              <a:spcAft>
                <a:spcPts val="5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•    • نماذج وقوالب جاهزة لمراسلات التعاون الأكاديمي الدولي.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164592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Arial"/>
              </a:defRPr>
            </a:pPr>
            <a:r>
              <a:t>شكراً لحضوركم وتفاعلكم المتميز</a:t>
            </a:r>
          </a:p>
          <a:p>
            <a:pPr algn="r">
              <a:spcBef>
                <a:spcPts val="800"/>
              </a:spcBef>
              <a:defRPr sz="1500">
                <a:solidFill>
                  <a:srgbClr val="00C4D8"/>
                </a:solidFill>
                <a:latin typeface="Arial"/>
              </a:defRPr>
            </a:pPr>
            <a:r>
              <a:t>معاً نبني حضوراً بحثياً عالمياً يعزز مكانة جامعة طيبة في مصاف الجامعات المرموقة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6583680" cy="2103120"/>
          </a:xfrm>
          <a:prstGeom prst="roundRect">
            <a:avLst/>
          </a:prstGeom>
          <a:solidFill>
            <a:srgbClr val="122055"/>
          </a:solidFill>
          <a:ln w="1524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t>د. عزت عمر عبدالله أبوعزه</a:t>
            </a:r>
          </a:p>
          <a:p>
            <a:pPr algn="r">
              <a:spcBef>
                <a:spcPts val="400"/>
              </a:spcBef>
              <a:defRPr sz="1200">
                <a:solidFill>
                  <a:srgbClr val="00C4D8"/>
                </a:solidFill>
                <a:latin typeface="Arial"/>
              </a:defRPr>
            </a:pPr>
            <a:r>
              <a:t>أستاذ مساعد - قسم تقنية الأشعة - كلية العلوم الطبية التطبيقية</a:t>
            </a:r>
          </a:p>
          <a:p>
            <a:pPr algn="r"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جامعة طيبة  |  المدينة المنورة  |  المملكة العربية السعودية</a:t>
            </a:r>
          </a:p>
          <a:p>
            <a:pPr algn="r">
              <a:spcBef>
                <a:spcPts val="600"/>
              </a:spcBef>
              <a:defRPr sz="1200" b="1">
                <a:solidFill>
                  <a:srgbClr val="D97706"/>
                </a:solidFill>
                <a:latin typeface="Arial"/>
              </a:defRPr>
            </a:pPr>
            <a:r>
              <a:t>رابط منصة الورشة التفاعلية المستمرة متاح على خادم الـ VPS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جامعة طيبة">
      <a:dk1>
        <a:srgbClr val="000000"/>
      </a:dk1>
      <a:lt1>
        <a:srgbClr val="FFFFFF"/>
      </a:lt1>
      <a:dk2>
        <a:srgbClr val="111144"/>
      </a:dk2>
      <a:lt2>
        <a:srgbClr val="DCDCDC"/>
      </a:lt2>
      <a:accent1>
        <a:srgbClr val="0A8D6E"/>
      </a:accent1>
      <a:accent2>
        <a:srgbClr val="00AEDA"/>
      </a:accent2>
      <a:accent3>
        <a:srgbClr val="4056E3"/>
      </a:accent3>
      <a:accent4>
        <a:srgbClr val="40E0D0"/>
      </a:accent4>
      <a:accent5>
        <a:srgbClr val="E5C603"/>
      </a:accent5>
      <a:accent6>
        <a:srgbClr val="FFD1DC"/>
      </a:accent6>
      <a:hlink>
        <a:srgbClr val="0E2841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a8d02d-59f3-416a-8231-b3080e639cad}" enabled="0" method="" siteId="{13a8d02d-59f3-416a-8231-b3080e639c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9043</Words>
  <Application>Microsoft Office PowerPoint</Application>
  <PresentationFormat>Widescreen</PresentationFormat>
  <Paragraphs>685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Arial</vt:lpstr>
      <vt:lpstr>Tosh A</vt:lpstr>
      <vt:lpstr>Tosh 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Hamza Mohammed Othman Omer Eid</dc:creator>
  <cp:lastModifiedBy>Atuhor</cp:lastModifiedBy>
  <cp:revision>4</cp:revision>
  <dcterms:created xsi:type="dcterms:W3CDTF">2025-08-19T15:14:45Z</dcterms:created>
  <dcterms:modified xsi:type="dcterms:W3CDTF">2026-09-19T07:04:35Z</dcterms:modified>
</cp:coreProperties>
</file>