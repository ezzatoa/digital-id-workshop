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2000"/>
  <p:notesSz cx="6858000" cy="9144000"/>
  <p:embeddedFontLst>
    <p:embeddedFont>
      <p:font typeface="Tahoma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iOsi9McM9dSDBfvVjZMlQVdJzI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Tahoma-regular.fntdata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Tahoma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00:00 - 00:03]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الترحيب بالزملاء والزميلات أعضاء هيئة التدريس الجدد بجامعة طيبة.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التعريف بنفسي: د. عزت عمر عبدالله أبوعزه، أستاذ مساعد بقسم تقنية الأشعة، كلية العلوم الطبية التطبيقية.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الهدف العام: بناء حضور بحثي احترافي يضمن نسبة الأبحاث والاستشهادات للباحث ولجامعة طيبة، وفتح آفاق التعاون الدولي.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نعتمد اليوم على تطبيق ويب تفاعلي طورناه خصيصاً ليمنحكم تجربة محاكاة واقعية بدون الحاجة لإنشاء حسابات أثناء الجلسة.</a:t>
            </a:r>
            <a:endParaRPr/>
          </a:p>
        </p:txBody>
      </p:sp>
      <p:sp>
        <p:nvSpPr>
          <p:cNvPr id="152" name="Google Shape;15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00:03 - 00:06]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مواءمة البرنامج مع معايير عمادة التطوير والجودة للعام 1448هـ.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الإشارة إلى أن جدارة 'التحول الرقمي' تعني انتقال الباحث من العمل المنعزل إلى شبكات البحث المفتوحة والمترابطة عالمياً.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التذكير بأن مخرجات اليوم لن تكون نظرية، بل سنطبقها عملياً داخل تطبيق الويب التفاعلي للورشة.</a:t>
            </a:r>
            <a:endParaRPr/>
          </a:p>
        </p:txBody>
      </p:sp>
      <p:sp>
        <p:nvSpPr>
          <p:cNvPr id="160" name="Google Shape;16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00:06 - 00:09]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استعراض خارطة الطريق والتأكيد على الانضباط الزمني (90 دقيقة موزعة بدقة).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تشجيع المتدربين على فتح رابط تطبيق الويب على متصفحاتهم أو هواتفهم.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التأكيد: لا تقلقوا إذا لم تكن لديكم حسابات سابقة على ORCID أو ResearchGate، صممنا محاكيات تحاكي الواجهات الحقيقية بنسبة 100%.</a:t>
            </a:r>
            <a:endParaRPr/>
          </a:p>
        </p:txBody>
      </p:sp>
      <p:sp>
        <p:nvSpPr>
          <p:cNvPr id="170" name="Google Shape;1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00:09 - 00:14]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دعوة جميع المتدربين لفتح التطبيق والضغط على 'مقياس النضج الرقمي'.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منح المتدربين 3 دقائق لتعبئة الأسئلة العشرة.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سؤال سريع عبر الشات: كم زميلاً حصل على نتيجة 'ناشئ' أو 'مبتدئ'؟ نطمئنهم بأن الورشة مصممة خصيصاً لسد هذه الفجوة.</a:t>
            </a:r>
            <a:endParaRPr/>
          </a:p>
        </p:txBody>
      </p:sp>
      <p:sp>
        <p:nvSpPr>
          <p:cNvPr id="180" name="Google Shape;1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00:14 - 00:18]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ضرب مثل واقعي باسمي الشخصي (Aboazza مقابل Abuazza) وكيف يسبب حرف واحد انشطار الملف التعريفي إلى ملفين في Scopus!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الإشارة إلى دراسات كشفت أن ما يصل إلى 25% من استشهادات الباحثين العرب تضيع بسبب أخطاء الترجمة الصوتية والتهجئة.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أن الحل ليس بتوحيد الإملاء في المجلات فحسب، بل باستخدام المعرف الرقمي الموحد ORCID.</a:t>
            </a:r>
            <a:endParaRPr/>
          </a:p>
        </p:txBody>
      </p:sp>
      <p:sp>
        <p:nvSpPr>
          <p:cNvPr id="191" name="Google Shape;19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00:18 - 00:22]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التذكير بأهمية كتابة اسم جامعة طيبة بدقة باللغة الإنجليزية: Taibah University وليس University of Taibah أو طيبة يونيفيرستي.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توضيح أن خوارزميات Scopus و Web of Science تجمع الأبحاث بناءً على الـ Affiliation المحدد بدقة.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الإشارة إلى دور كل أستاذ في دعم مؤشرات أداء الجامعة ومستهدفات رؤية المملكة 2030.</a:t>
            </a:r>
            <a:endParaRPr/>
          </a:p>
        </p:txBody>
      </p:sp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00:22 - 00:24]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ننتقل الآن إلى صلب المهارات العملية: المنصات الأربع الكبرى.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سنشرح كل منصة باختصار مكثف، ثم ننتقل فوراً لمحاكاتها التفاعلية داخل تطبيق الويب.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تنبيه للمتدربين: ركزوا في الفروق بين المنصات؛ لكل منصة جمهور ووظيفة تختلف تماماً عن الأخرى.</a:t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00:24 - 00:28]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شرح مبسط للـ 16 رقماً الخاص بـ ORCID وأن الرقم الأخير قد يكون حرف 'X' لأنه خانة تحقق حسابية (Checksum).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أهمية خانة 'Also known as' لكتابة الاسم باللغة العربية وبالحروف اللاتينية بمختلف أشكالها.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الآن سننتقل لتطبيق المحاكاة ليرى المتدربون كيف يتم بناء الملف خطوة بخطوة.</a:t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00:28 - 00:35]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توجيه المتدربين لفتح محاكي ORCID في التطبيق.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إعطاء المتدربين 5 دقائق لتجربة إدخال البيانات وملاحظة كيف تظهر شارة ORCID الخضراء.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التعليق على أهمية اختيار مستوى الخصوصية 'Everyone' (الأخضر) ليتمكن محرك Google ومسؤولو التصنيف من قراءة السجل.</a:t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00:35 - 00:38]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بشدة: لا تجعل حساب ORCID خاصاً (Only Me)، فهذا يفقده 90% من قيمته!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شرح كيفية عمل Crossref: عندما توافق على إذن Crossref في صندوق بريد ORCID، لن تضطر مستقبلاً لإضافة أبحاثك يدوياً.</a:t>
            </a:r>
            <a:endParaRPr/>
          </a:p>
        </p:txBody>
      </p:sp>
      <p:sp>
        <p:nvSpPr>
          <p:cNvPr id="240" name="Google Shape;24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00:38 - 00:42]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توضيح أن الكثير من الباحثين ينشئون حساباً على Google Scholar ولكنهم ينسون تفعيل خيار 'Public' فيظل الملف مخفياً تماماً!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استخدام الإيميل الجامعي الرسمي، وتنبيههم بأنه يمكن تسجيل الدخول بحساب Gmail عادي ولكن توثيق المؤسسة يتطلب إيميل الجامعة.</a:t>
            </a:r>
            <a:endParaRPr/>
          </a:p>
        </p:txBody>
      </p:sp>
      <p:sp>
        <p:nvSpPr>
          <p:cNvPr id="250" name="Google Shape;25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00:42 - 00:48]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توجيه المتدربين لتجربة محاكي Google Scholar.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التركيز على زر 'Merge' (دمج الأبحاث): إيضاح كيف يرفع الدمج رقم الاقتباسات للبحث الواحد ويصحح مؤشر هيرش.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التنبيه على خيار 'Don't automatically add articles to profile; email me for review' لمن لديهم أسماء شائعة.</a:t>
            </a:r>
            <a:endParaRPr/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00:48 - 00:51]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نصيحة عملية: استعرض الكلمات المفتاحية في تخصصك واعرف من هم الرواد فيها على Google Scholar.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الإشارة إلى أن الباحثين يزورون صفحات المتخصصين عبر النقر على تلك الكلمات، وهي وسيلة ممتازة لجذب قراء واستشهادات جديدة.</a:t>
            </a:r>
            <a:endParaRPr/>
          </a:p>
        </p:txBody>
      </p:sp>
      <p:sp>
        <p:nvSpPr>
          <p:cNvPr id="270" name="Google Shape;27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00:51 - 00:54]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أن ResearchGate منصة ممتازة لكسر العزلة البحثية.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التنويه بوجود محاذير قانونية في رفع الأبحاث سنشرحها في الشريحة التالية (شريحة حقوق النشر).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الاستعداد للانتقال لمحاكي ResearchGate.</a:t>
            </a:r>
            <a:endParaRPr/>
          </a:p>
        </p:txBody>
      </p:sp>
      <p:sp>
        <p:nvSpPr>
          <p:cNvPr id="280" name="Google Shape;28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00:54 - 01:00]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فتح محاكي ResearchGate بالتطبيق.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تتبع تجربة رفع الملف: إبراز التنبيه القانوني الذي يظهر للمتدربين عند محاولة رفع PDF النهائي لمجلة تجارية مغلقة.</a:t>
            </a:r>
            <a:endParaRPr/>
          </a:p>
        </p:txBody>
      </p:sp>
      <p:sp>
        <p:nvSpPr>
          <p:cNvPr id="290" name="Google Shape;29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01:00 - 01:04]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هذه الشريحة من أهم الشرائح التوعوية: كثير من أعضاء هيئة التدريس يرفعون الـ Publisher PDF على ResearchGate فتأتيهم إخطارات إزالة (DMCA Takedown) من Elsevier أو Springer.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توضيح مفهوم 'الوصول المفتوح الأخضر' (Green Open Access) والاعتماد على نسخة الـ AAM.</a:t>
            </a:r>
            <a:endParaRPr/>
          </a:p>
        </p:txBody>
      </p:sp>
      <p:sp>
        <p:nvSpPr>
          <p:cNvPr id="300" name="Google Shape;30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01:04 - 01:08]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تأكيد أن الترقيات في معظم الجامعات السعودية تعتمد على تقرير Scopus أو Clarivate.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شرح كيف يؤدي انقسام الملف إلى حرمان الباحث من نقاط حاسمة في معامل هيرش.</a:t>
            </a:r>
            <a:endParaRPr/>
          </a:p>
        </p:txBody>
      </p:sp>
      <p:sp>
        <p:nvSpPr>
          <p:cNvPr id="310" name="Google Shape;31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01:08 - 01:14]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فتح محاكي Scopus في تطبيق الويب.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استعراض تجربة الدمج: المتدربون سيشاهدون عملياً كيف يندمج الحسابين ويقفز معامل h-index بعد دمج استشهادات الورقتين المفصولتين.</a:t>
            </a:r>
            <a:endParaRPr/>
          </a:p>
        </p:txBody>
      </p:sp>
      <p:sp>
        <p:nvSpPr>
          <p:cNvPr id="320" name="Google Shape;32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01:14 - 01:17]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تلخيص المحطة الأولى بهذه المصفوفة الجامعة.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الإجابة عن السؤال المتكرر: هل يغني أحدهم عن الآخر؟ الجواب: لا، كل منصة تكمل الأخرى وتشكل معاً منظومة الهوية الرقمية الكاملة.</a:t>
            </a:r>
            <a:endParaRPr/>
          </a:p>
        </p:txBody>
      </p:sp>
      <p:sp>
        <p:nvSpPr>
          <p:cNvPr id="330" name="Google Shape;33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01:17 - 01:19]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ننتقل إلى المحطة الثانية: فهم مؤشرات الأثر العلمي.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كثير من الباحثين يسمعون عن h-index لكنهم لا يعرفون بدقة كيف يُحسب، ولماذا قد ينشر باحث أوراقاً جديدة ولا يرتفع معامله إطلاقاً!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سنكشف الشفرة الرياضية وكيف تركز مجهودك الترويجي على الأوراق الصحيحة.</a:t>
            </a:r>
            <a:endParaRPr/>
          </a:p>
        </p:txBody>
      </p:sp>
      <p:sp>
        <p:nvSpPr>
          <p:cNvPr id="341" name="Google Shape;34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01:19 - 01:24]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الفكرة العبقرية لـ h-index: يجمع بين الإنتاجية (الكم) والجودة (الكيف / الاستشهادات).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الإيضاح: لو نشرت 100 بحث وكل بحث نال استشهاداً واحداً فقط، فمعاملك هو 1 فقط!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ولو نشرت بحثاً واحداً ونال 10,000 استشهاد، فمعاملك هو 1 أيضاً!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لذلك يتطلب رفع معامل h توازناً مستمراً.</a:t>
            </a:r>
            <a:endParaRPr/>
          </a:p>
        </p:txBody>
      </p:sp>
      <p:sp>
        <p:nvSpPr>
          <p:cNvPr id="350" name="Google Shape;35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01:24 - 01:28]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إبراز النضج الفكري للباحث في فهم المؤشرات: المؤشرات أدوات قياس وليست غايات بحد ذاتها.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تحذير من مقارنة باحث في قسم الأشعة أو الصيدلة بزميل له في قسم الرياضيات أو القانون باستخدام h-index المجرد.</a:t>
            </a:r>
            <a:endParaRPr/>
          </a:p>
        </p:txBody>
      </p:sp>
      <p:sp>
        <p:nvSpPr>
          <p:cNvPr id="360" name="Google Shape;36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01:28 - 01:31]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توضيح كيف يقرأ المقيمون لوحة Google Scholar: ينظرون للـ h-index ولإجمالي الاستشهادات ولعمود 'Since 2021' لمعرفة هل الباحث ما زال نشطاً أم أن أبحاثه قديمة.</a:t>
            </a:r>
            <a:endParaRPr/>
          </a:p>
        </p:txBody>
      </p:sp>
      <p:sp>
        <p:nvSpPr>
          <p:cNvPr id="370" name="Google Shape;370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01:31 - 01:34]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أن FWCI هو المقياس الأكثر إنصافاً عند تقييم الباحثين في لجان الجوائز والترقيات المؤسسية.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إيضاح أن استشهاداً واحداً في ورقة متخصصة في الرياضيات قد يمنح FWCI = 2.5، بينما 10 استشهادات في ورقة طب عام قد تمنح FWCI = 1.1.</a:t>
            </a:r>
            <a:endParaRPr/>
          </a:p>
        </p:txBody>
      </p:sp>
      <p:sp>
        <p:nvSpPr>
          <p:cNvPr id="380" name="Google Shape;380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01:34 - 01:37]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إيضاح أن صناع القرار وهيئات التمويل تركز اليوم على الأثر المجتمعي (Societal Impact): هل بقي بحثك حبيس الأدراج أم أثر في خطة علاجية أو قرار وزاري؟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الإشارة إلى أن شارة Altmetric تظهر بجانب الأوراق في معظم المجلات الكبرى.</a:t>
            </a:r>
            <a:endParaRPr/>
          </a:p>
        </p:txBody>
      </p:sp>
      <p:sp>
        <p:nvSpPr>
          <p:cNvPr id="390" name="Google Shape;390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01:37 - 01:43]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توجيه المتدربين لفتح حاسبة h-index التفاعلية في التطبيق.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متابعة المتدربين أثناء سحب الأشرطة: ليرى الجميع بأعينهم متى يقفز المعامل وكيف تبرز 'الورقة الذهبية' بلون أخضر مميز.</a:t>
            </a:r>
            <a:endParaRPr/>
          </a:p>
        </p:txBody>
      </p:sp>
      <p:sp>
        <p:nvSpPr>
          <p:cNvPr id="401" name="Google Shape;40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01:43 - 01:45]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ننتقل للمحطة الثالثة: كيف نجعل الأبحاث التي ننشرها تُقرأ وتُقتبس عالمياً؟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النشر وحده لا يكفي؛ العالم ينشر يومياً آلاف الأوراق، والبحث الجيد الذي لا يُرى كأنه لم يُكتب!</a:t>
            </a:r>
            <a:endParaRPr/>
          </a:p>
        </p:txBody>
      </p:sp>
      <p:sp>
        <p:nvSpPr>
          <p:cNvPr id="411" name="Google Shape;411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01:45 - 01:48]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الإشارة إلى الدعم الذي تقدمه جامعة طيبة والجامعات السعودية لاتفاقيات النشر المفتوح (Transformative Agreements) مع دور النشر مثل Springer و Wiley عبر المكتبة الرقمية السعودية (SDL).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تشجيع الباحثين على استغلال النشر المفتوح المدعوم دون دفع رسوم شخصية.</a:t>
            </a:r>
            <a:endParaRPr/>
          </a:p>
        </p:txBody>
      </p:sp>
      <p:sp>
        <p:nvSpPr>
          <p:cNvPr id="420" name="Google Shape;420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01:48 - 01:52]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ضرب أمثلة من التخصص الطبي (تقنية الأشعة والتصوير الطبي) وكيف أن العنوان الدقيق المبني على SEO يجذب استشهادات من باحثين حول العالم.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التمهيد لمختبر الذكاء الاصطناعي: كيف سيساعدنا Gemini Flash في تحسين عناوين مسوداتنا في ثوانٍ!</a:t>
            </a:r>
            <a:endParaRPr/>
          </a:p>
        </p:txBody>
      </p:sp>
      <p:sp>
        <p:nvSpPr>
          <p:cNvPr id="430" name="Google Shape;430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01:52 - 01:56]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أهمية المبادرة: لا تنتظر أن يطرق أحد بابك؛ الباحثون الكبار يرحبون دائماً بالأفكار الجادة والبيانات القيمة.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التنبيه على ضرورة تجنب الرسائل المعممة الباهتة (Spam) وكتابة رسائل مخصصة بدقة.</a:t>
            </a:r>
            <a:endParaRPr/>
          </a:p>
        </p:txBody>
      </p:sp>
      <p:sp>
        <p:nvSpPr>
          <p:cNvPr id="440" name="Google Shape;440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01:56 - 01:58]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ننتقل للمحطة الرابعة: الابتكار والذكاء الاصطناعي التوليدي.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الذكاء الاصطناعي أداة تمكين جبارة، ولكن سوء استخدامه قد يهدد النزاهة العلمية.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سنشاهد كيف بنينا في تطبيق الويب بيئة ذكاء اصطناعي منضبطة ومحكومة بقوالب دقيقة تخدم أهداف الباحث تماماً.</a:t>
            </a:r>
            <a:endParaRPr/>
          </a:p>
        </p:txBody>
      </p:sp>
      <p:sp>
        <p:nvSpPr>
          <p:cNvPr id="450" name="Google Shape;450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01:58 - 02:02]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توضيح فلسفة التصميم: حرصنا على حماية مفتاح الـ API والحد من أي إساءة استخدام عبر توفير قوالب محكمة.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المتدرب يركز في جوهر تخصصه دون أن يتشتت في كتابة برومبت طويل قد لا يفي بالغرض.</a:t>
            </a:r>
            <a:endParaRPr/>
          </a:p>
        </p:txBody>
      </p:sp>
      <p:sp>
        <p:nvSpPr>
          <p:cNvPr id="459" name="Google Shape;459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02:02 - 02:06]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دعوة المتدربين لفتح الأداة الأولى وتجربة إدخال عنوان بحث حقيقي يعملون عليه حالياً.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الإشارة إلى سرعة استجابة نموذج Gemini Flash وجودة الخيارات المقترحة.</a:t>
            </a:r>
            <a:endParaRPr/>
          </a:p>
        </p:txBody>
      </p:sp>
      <p:sp>
        <p:nvSpPr>
          <p:cNvPr id="469" name="Google Shape;469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02:06 - 02:10]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توضيح أن معظم أفراد المجتمع والإعلاميين لا يقرأون الأوراق البحثية المعقدة، والملخص التبسيطي هو الجسر الذي ينقل العلم من الدوريات إلى المجتمع.</a:t>
            </a:r>
            <a:endParaRPr/>
          </a:p>
        </p:txBody>
      </p:sp>
      <p:sp>
        <p:nvSpPr>
          <p:cNvPr id="479" name="Google Shape;479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02:10 - 02:14]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التأكيد على تجربة كتابة رسالة باللغة الإنجليزية عبر الأداة، وملاحظة كيف يوظف Gemini Flash المصطلحات الأكاديمية اللبقة التي تفتح الأبواب للتعاون الدولي.</a:t>
            </a:r>
            <a:endParaRPr/>
          </a:p>
        </p:txBody>
      </p:sp>
      <p:sp>
        <p:nvSpPr>
          <p:cNvPr id="489" name="Google Shape;489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02:14 - 02:18]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تشجيع الباحثين على تبني عقلية 'ما بعد القبول': النشر دون نشر ترويجي كمن يصنع دواءً ويخبئه في الخزانة!</a:t>
            </a:r>
            <a:endParaRPr/>
          </a:p>
        </p:txBody>
      </p:sp>
      <p:sp>
        <p:nvSpPr>
          <p:cNvPr id="499" name="Google Shape;499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02:18 - 02:20]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وصلنا للمحطة الختامية: تحويل كل ما تعلمناه إلى خطة عمل شخصية قابلة للتنفيذ.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ننتقل إلى شاشة إصدار التقرير والشهادة التفاعلية في تطبيق الويب.</a:t>
            </a:r>
            <a:endParaRPr/>
          </a:p>
        </p:txBody>
      </p:sp>
      <p:sp>
        <p:nvSpPr>
          <p:cNvPr id="509" name="Google Shape;509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02:20 - 02:24]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استعراض قائمة الـ 30 يوماً والتأكيد على أن تطبيق خطوة واحدة كل يومين يضمن الوصول إلى قمة الحضور الرقمي دون أي ضغط أو عناء.</a:t>
            </a:r>
            <a:endParaRPr/>
          </a:p>
        </p:txBody>
      </p:sp>
      <p:sp>
        <p:nvSpPr>
          <p:cNvPr id="518" name="Google Shape;518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02:24 - 02:27]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توجيه جميع الزملاء للضغط على 'طباعة / حفظ التقرير' ليحتفظ كل متدرب بوثيقته وخريطة طريقه الفردية.</a:t>
            </a:r>
            <a:endParaRPr/>
          </a:p>
        </p:txBody>
      </p:sp>
      <p:sp>
        <p:nvSpPr>
          <p:cNvPr id="528" name="Google Shape;528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7" name="Google Shape;537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[التوقيت المقترح: 02:27 - 02:30 | الدقائق الختامية]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توجيه خالص الشكر والتقدير لعمادة التطوير والجودة ولجميع الزملاء والزميلات على تفاعلهم البناء.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تذكيرهم بأن بناء الحضور الرقمي هو مسار مستمر يبدأ بخطوات اليوم.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فتح الباب للأسئلة الختامية وتمنياتي للجميع بمسيرة بحثية زاهرة ومؤثرة عالمياً.</a:t>
            </a:r>
            <a:endParaRPr/>
          </a:p>
        </p:txBody>
      </p:sp>
      <p:sp>
        <p:nvSpPr>
          <p:cNvPr id="538" name="Google Shape;538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ctrTitle"/>
          </p:nvPr>
        </p:nvSpPr>
        <p:spPr>
          <a:xfrm>
            <a:off x="6089780" y="1141024"/>
            <a:ext cx="5508171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838200" y="849086"/>
            <a:ext cx="10515600" cy="494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838200" y="830424"/>
            <a:ext cx="10515600" cy="531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4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4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7"/>
          <p:cNvSpPr txBox="1"/>
          <p:nvPr>
            <p:ph type="title"/>
          </p:nvPr>
        </p:nvSpPr>
        <p:spPr>
          <a:xfrm>
            <a:off x="838200" y="830424"/>
            <a:ext cx="10515600" cy="531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 txBox="1"/>
          <p:nvPr>
            <p:ph type="title"/>
          </p:nvPr>
        </p:nvSpPr>
        <p:spPr>
          <a:xfrm>
            <a:off x="838200" y="830424"/>
            <a:ext cx="10515600" cy="531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4" name="Google Shape;54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5" name="Google Shape;55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1"/>
          <p:cNvSpPr txBox="1"/>
          <p:nvPr>
            <p:ph type="title"/>
          </p:nvPr>
        </p:nvSpPr>
        <p:spPr>
          <a:xfrm>
            <a:off x="838200" y="830424"/>
            <a:ext cx="10515600" cy="531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10e3cb9dd1de08c7_0_844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h10e3cb9dd1de08c7_0_844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h10e3cb9dd1de08c7_0_84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10e3cb9dd1de08c7_0_8452"/>
          <p:cNvSpPr txBox="1"/>
          <p:nvPr>
            <p:ph type="ctrTitle"/>
          </p:nvPr>
        </p:nvSpPr>
        <p:spPr>
          <a:xfrm>
            <a:off x="6089780" y="1141024"/>
            <a:ext cx="55083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h10e3cb9dd1de08c7_0_845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0" name="Google Shape;90;h10e3cb9dd1de08c7_0_84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h10e3cb9dd1de08c7_0_845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h10e3cb9dd1de08c7_0_84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0e3cb9dd1de08c7_0_8458"/>
          <p:cNvSpPr txBox="1"/>
          <p:nvPr>
            <p:ph type="title"/>
          </p:nvPr>
        </p:nvSpPr>
        <p:spPr>
          <a:xfrm>
            <a:off x="838200" y="849086"/>
            <a:ext cx="105156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sz="2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h10e3cb9dd1de08c7_0_845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h10e3cb9dd1de08c7_0_84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h10e3cb9dd1de08c7_0_84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h10e3cb9dd1de08c7_0_84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10e3cb9dd1de08c7_0_846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h10e3cb9dd1de08c7_0_846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2" name="Google Shape;102;h10e3cb9dd1de08c7_0_846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h10e3cb9dd1de08c7_0_846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h10e3cb9dd1de08c7_0_84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10e3cb9dd1de08c7_0_8470"/>
          <p:cNvSpPr txBox="1"/>
          <p:nvPr>
            <p:ph type="title"/>
          </p:nvPr>
        </p:nvSpPr>
        <p:spPr>
          <a:xfrm>
            <a:off x="838200" y="830424"/>
            <a:ext cx="10515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h10e3cb9dd1de08c7_0_8470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h10e3cb9dd1de08c7_0_8470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h10e3cb9dd1de08c7_0_847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h10e3cb9dd1de08c7_0_847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h10e3cb9dd1de08c7_0_84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10e3cb9dd1de08c7_0_8477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h10e3cb9dd1de08c7_0_8477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h10e3cb9dd1de08c7_0_8477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h10e3cb9dd1de08c7_0_8477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h10e3cb9dd1de08c7_0_8477"/>
          <p:cNvSpPr txBox="1"/>
          <p:nvPr>
            <p:ph type="title"/>
          </p:nvPr>
        </p:nvSpPr>
        <p:spPr>
          <a:xfrm>
            <a:off x="838200" y="830424"/>
            <a:ext cx="10515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10e3cb9dd1de08c7_0_8483"/>
          <p:cNvSpPr txBox="1"/>
          <p:nvPr>
            <p:ph type="title"/>
          </p:nvPr>
        </p:nvSpPr>
        <p:spPr>
          <a:xfrm>
            <a:off x="838200" y="830424"/>
            <a:ext cx="10515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h10e3cb9dd1de08c7_0_848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h10e3cb9dd1de08c7_0_848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h10e3cb9dd1de08c7_0_84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0e3cb9dd1de08c7_0_848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h10e3cb9dd1de08c7_0_848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6" name="Google Shape;126;h10e3cb9dd1de08c7_0_848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7" name="Google Shape;127;h10e3cb9dd1de08c7_0_848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h10e3cb9dd1de08c7_0_848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h10e3cb9dd1de08c7_0_84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10e3cb9dd1de08c7_0_849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h10e3cb9dd1de08c7_0_8495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h10e3cb9dd1de08c7_0_8495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h10e3cb9dd1de08c7_0_849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h10e3cb9dd1de08c7_0_849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h10e3cb9dd1de08c7_0_84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10e3cb9dd1de08c7_0_8502"/>
          <p:cNvSpPr txBox="1"/>
          <p:nvPr>
            <p:ph type="title"/>
          </p:nvPr>
        </p:nvSpPr>
        <p:spPr>
          <a:xfrm>
            <a:off x="838200" y="830424"/>
            <a:ext cx="10515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h10e3cb9dd1de08c7_0_850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h10e3cb9dd1de08c7_0_850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h10e3cb9dd1de08c7_0_850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h10e3cb9dd1de08c7_0_85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10e3cb9dd1de08c7_0_8508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h10e3cb9dd1de08c7_0_8508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h10e3cb9dd1de08c7_0_850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h10e3cb9dd1de08c7_0_850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h10e3cb9dd1de08c7_0_85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838200" y="830424"/>
            <a:ext cx="10515600" cy="531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10e3cb9dd1de08c7_0_8442"/>
          <p:cNvSpPr txBox="1"/>
          <p:nvPr>
            <p:ph type="title"/>
          </p:nvPr>
        </p:nvSpPr>
        <p:spPr>
          <a:xfrm>
            <a:off x="838200" y="830424"/>
            <a:ext cx="10515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h10e3cb9dd1de08c7_0_84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h10e3cb9dd1de08c7_0_84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h10e3cb9dd1de08c7_0_844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h10e3cb9dd1de08c7_0_84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workshop.amsc.education/digital-id-workshop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154" name="Google Shape;1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"/>
          <p:cNvSpPr txBox="1"/>
          <p:nvPr/>
        </p:nvSpPr>
        <p:spPr>
          <a:xfrm>
            <a:off x="4114800" y="2673489"/>
            <a:ext cx="6583680" cy="1826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برنامج استقبال وتهيئة أعضاء هيئة التدريس الجدد   |    البرنامج رقم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الهوية الرقمية الأكاديمية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والحضور البحثي العالمي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Academic Digital Identity &amp; Global Research Presence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4178174" y="4597350"/>
            <a:ext cx="6583680" cy="1371600"/>
          </a:xfrm>
          <a:prstGeom prst="roundRect">
            <a:avLst>
              <a:gd fmla="val 16667" name="adj"/>
            </a:avLst>
          </a:prstGeom>
          <a:solidFill>
            <a:srgbClr val="122055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تقديم</a:t>
            </a: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د. عزت عمر عبدالله أبوعزه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أستاذ مساعد في قسم تقنية الأشعة - كلية العلوم الطبية التطبيقية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جامعة طيبة  |  الفصل الدراسي الثاني 1448هـ - 2026م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162" name="Google Shape;1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 |  عمادة التطوير والجودة  |  الهوية الرقمية الأكاديمية والحضور البحثي العالمي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بطاقة وصف البرنامج التدريبي والمخرجات الرئيسية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6217920" y="1463040"/>
            <a:ext cx="5029200" cy="4389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5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البيانات العامة بطاقة البرنامج المعتمدة 1448هـ</a:t>
            </a:r>
            <a:b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الجهة المشرفة: إدارة التدريب والتطوير الأكاديمي - عمادة التطوير والجودة.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الجدارة المستهدفة: التقنية والتحول الرقمي.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الفئة المستفيدة: جميع أعضاء هيئة التدريس والباحثين بجامعة طيبة.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نمط التقديم والمدة: ورشة عمل تفاعلية مكثفة مدتها 90دقيقة عن بعد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الرقم المرجعي للبرنامج: الدورة التدريبية رقم 04.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731520" y="146304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5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المخرجات التعليمية المستهدفة (KLOs)</a:t>
            </a:r>
            <a:b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بناء وإدارة المعرفات الأكاديمية العالمية بدقة (ORCID, Scholar, ResearchGate, Scopus).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فهم وتفكيك مؤشرات الأثر البحثي (h-index, citations, FWCI, Altmetrics).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تطبيق استراتيجيات عملية لمضاعفة الاستشهاد بالأوراق البحثية (Academic SEO).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بناء شبكة تعاون بحثي دولية رقمياً لتعزيز مكانة جامعة طيبة في التصنيفات العالمية.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توظيف أدوات الذكاء الاصطناعي التوليدي المنضبط بأوامر موجهة مقيدة.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172" name="Google Shape;1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خارطة الطريق الزمنية (90 دقيقة) وميثاق الورشة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5760720" y="1463040"/>
            <a:ext cx="5486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228600" lIns="266700" spcFirstLastPara="1" rIns="266700" wrap="square" tIns="2286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highlight>
                  <a:srgbClr val="E0F2FE"/>
                </a:highlight>
                <a:latin typeface="Arial"/>
                <a:ea typeface="Arial"/>
                <a:cs typeface="Arial"/>
                <a:sym typeface="Arial"/>
              </a:rPr>
              <a:t>[الجدول الزمني]</a:t>
            </a:r>
            <a:r>
              <a:rPr b="1" i="0" lang="en-US" sz="16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الجدول الزمني الموزع للورشة</a:t>
            </a:r>
            <a:endParaRPr b="1" i="0" sz="16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00A887"/>
                </a:solidFill>
              </a:rPr>
              <a:t>09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:00 - </a:t>
            </a:r>
            <a:r>
              <a:rPr b="1" lang="en-US" sz="1150">
                <a:solidFill>
                  <a:srgbClr val="00A887"/>
                </a:solidFill>
              </a:rPr>
              <a:t>09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:15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(15 د): المدخل الاستراتيجي وأزمة تشابه الأسماء + تقييم النضج.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00A887"/>
                </a:solidFill>
              </a:rPr>
              <a:t>09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:15 - </a:t>
            </a:r>
            <a:r>
              <a:rPr b="1" lang="en-US" sz="1150">
                <a:solidFill>
                  <a:srgbClr val="00A887"/>
                </a:solidFill>
              </a:rPr>
              <a:t>09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:45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(30 د): المنصات الأربع الكبرى (ORCID, Scholar, RG, Scopus) ومحاكاتها.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00A887"/>
                </a:solidFill>
              </a:rPr>
              <a:t>09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:45 - </a:t>
            </a:r>
            <a:r>
              <a:rPr b="1" lang="en-US" sz="1150">
                <a:solidFill>
                  <a:srgbClr val="00A887"/>
                </a:solidFill>
              </a:rPr>
              <a:t>10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:05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(20 د): فك شفرة مؤشرات الأثر (h-index, FWCI) والمختبر التفاعلي.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00A887"/>
                </a:solidFill>
              </a:rPr>
              <a:t>10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:05 - </a:t>
            </a:r>
            <a:r>
              <a:rPr b="1" lang="en-US" sz="1150">
                <a:solidFill>
                  <a:srgbClr val="00A887"/>
                </a:solidFill>
              </a:rPr>
              <a:t>10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:25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(20 د): استراتيجيات الاستشهاد ومختبر الذكاء الاصطناعي المنضبط.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lang="en-US" sz="1150">
                <a:solidFill>
                  <a:srgbClr val="00A887"/>
                </a:solidFill>
              </a:rPr>
              <a:t>10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:25 - </a:t>
            </a:r>
            <a:r>
              <a:rPr b="1" lang="en-US" sz="1150">
                <a:solidFill>
                  <a:srgbClr val="00A887"/>
                </a:solidFill>
              </a:rPr>
              <a:t>10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:30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(05 د): خطة العمل الشخصية والتقييم الختامي.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731520" y="1463040"/>
            <a:ext cx="47550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228600" lIns="266700" spcFirstLastPara="1" rIns="266700" wrap="square" tIns="2286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[ميثاق التعلم]</a:t>
            </a:r>
            <a:r>
              <a:rPr b="1" i="0" lang="en-US" sz="16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ميثاق الورشة والتطبيق التفاعلي</a:t>
            </a:r>
            <a:endParaRPr b="1" i="0" sz="16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لا يشترط وجود حسابات مسبقة على المنصات أثناء الورشة؛ سنوفر محاكاة افتراضية شاملة.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استخدام الذكاء الاصطناعي يتم عبر قوالب موجهة مقيدة (Fill-in-the-blanks) لضمان النزاهة وحسن الاستخدام.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التفاعل المباشر عبر المحادثة وطرح الأسئلة في نهايات المحطات التدريبية.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كل متدرب سيغادر الورشة وبيده خطة عمل فردية مطبوعة ومحكمة.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182" name="Google Shape;1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النشاط الافتتاحي: مقياس النضج الرقمي للباحث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[نشاط تطبيقي - 5 دقائق]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أين تقف هويتك الرقمية الأكاديمية الآن؟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توجه الآن إلى تطبيق الويب واختر تبويب: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[مقياس النضج الرقمي]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أجب عن 10 أسئلة تشخيصية سريعة بنعم أو لا.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التقييم يشمل: توثيق البريد الجامعي، اكتمال ملف ORCID، دمج ملفات Scopus، وممارسات النشر المفتوح.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ستحصل على نتيجة فورية بنسبة مئوية ومستوى تصنيفي من 4 مستويات: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باحث مبتدئ رقمياً (&lt; 40%)</a:t>
            </a:r>
            <a:endParaRPr b="0" i="0" sz="11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باحث ناشئ (40% - 69%)</a:t>
            </a:r>
            <a:endParaRPr b="0" i="0" sz="11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باحث متميز ومكتمل الحضور (70% - 89%)</a:t>
            </a:r>
            <a:endParaRPr b="0" i="0" sz="11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رائد بحثي عالمي متصل (≥ 90%)</a:t>
            </a:r>
            <a:endParaRPr b="0" i="0" sz="11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[القيمة المضافة]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لماذا نقيس نضج الهوية الرقمية؟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الوعي بنقاط الضعف:</a:t>
            </a: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كثير من الباحثين لديهم أبحاث مميزة لكنها غير مفهرسة لصالحهم!</a:t>
            </a:r>
            <a:endParaRPr b="0" i="0" sz="11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تحديد الفجوة:</a:t>
            </a: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هل هويتك الرقمية تخدم نقلك وترقيتك وتصنيف جامعتك؟</a:t>
            </a:r>
            <a:endParaRPr b="0" i="0" sz="11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إصدار التقرير:</a:t>
            </a: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بنهاية الورشة ستتحول نتيجتك هذه إلى خطة تصحيحية عملية ومخصصة.</a:t>
            </a:r>
            <a:endParaRPr b="0" i="0" sz="11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34155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الهدف اليوم:</a:t>
            </a: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نقل كل متدرب خطوتين إلى الأمام في مؤشر النضج الرقمي.</a:t>
            </a:r>
            <a:endParaRPr b="0" i="0" sz="11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1122850" y="903100"/>
            <a:ext cx="689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hlink"/>
                </a:solidFill>
                <a:hlinkClick r:id="rId4"/>
              </a:rPr>
              <a:t>https://workshop.amsc.education/digital-id-workshop/</a:t>
            </a:r>
            <a:endParaRPr b="1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193" name="Google Shape;1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معضلة تشابه الأسماء وضياع الاستشهادات في النشر الدولي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[المعضلة الشائعة] كيف تضيع أبحاثك في قواعد البيانات؟</a:t>
            </a:r>
            <a:endParaRPr b="1" i="0" sz="15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91B1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تعدد الصيغ اللاتينية للاسم العربي الواحد: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1" marL="9144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Char char="○"/>
            </a:pPr>
            <a:r>
              <a:rPr b="1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مثال:</a:t>
            </a: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50">
                <a:solidFill>
                  <a:srgbClr val="475569"/>
                </a:solidFill>
              </a:rPr>
              <a:t>T. M. Al-Ghamdi; Tariq Mohammed Alghamdi; T. </a:t>
            </a:r>
            <a:endParaRPr b="0" i="0" sz="1150" u="none" cap="none" strike="noStrike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1" marL="91440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Char char="○"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تشتت الأبحاث بين ملفات متعددة غير مترابطة.</a:t>
            </a:r>
            <a:endParaRPr b="0" i="0" sz="1150" u="none" cap="none" strike="noStrike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تشابه الأسماء الشائعة (Name Homonyms):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3025" lvl="0" marL="0" marR="15240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91B1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آلاف الباحثين يحملون أسماء مثل: M. Khan أو A. Al-Ghamdi أو M. Ali.</a:t>
            </a:r>
            <a:endParaRPr b="0" i="0" sz="1150" u="none" cap="none" strike="noStrike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تغير جهة الانتساب الأكاديمي (Institutional Mobility):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3025" lvl="0" marL="0" marR="15240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91B1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انتقال الباحث من مرحلة الابتعاث أو جامعة أخرى إلى جامعة طيبة.</a:t>
            </a:r>
            <a:endParaRPr b="0" i="0" sz="1150" u="none" cap="none" strike="noStrike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91B1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النتيجة الحتمية: </a:t>
            </a:r>
            <a:r>
              <a:rPr b="0" i="0" lang="en-US" sz="115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انقسام الاستشهادات، انخفاض معامل h-index، وضياع حقوق الباحث والجامعة!</a:t>
            </a:r>
            <a:endParaRPr b="1" i="0" sz="1150" u="none" cap="none" strike="noStrike">
              <a:solidFill>
                <a:srgbClr val="991B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[الحل العلمي]</a:t>
            </a: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الحل الجذري: المعرفات الرقمية الدائمة (PIDs)</a:t>
            </a:r>
            <a:endParaRPr b="1" i="0" sz="15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المعرف الرقمي الدائم (Persistent Identifier):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رقم فريد عالمي غير قابل للتكرار.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مثل رقم الهوية الوطنية تماماً، ولكن للباحث وإنتاجه العلمي.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يربط جميع تنويعات اسمك بكيان رقمي واحد مدى الحياة.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يضمن بقاء أبحاثك منسوبة لك مهما تغيرت جامعتك أو طريقة كتابة اسمك في المجلات.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يربط استشهاداتك تلقائياً بجامعة طيبة ويدعم مؤشرات أدائها المؤسسي.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03" name="Google Shape;2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أثر الهوية الرقمية في تصنيف جامعة طيبة ورؤية 2030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[التصنيفات الدولية]</a:t>
            </a:r>
            <a:r>
              <a:rPr b="0" i="0" lang="en-US" sz="1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كيف تنظر التصنيفات العالمية لأبحاثك؟</a:t>
            </a:r>
            <a:endParaRPr b="0" i="0" sz="1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تعتمد تصنيفات QS و THE و شنغهاي (ARWU) بنسبة (30% - 60%) على: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حجم الإنتاج البحثي المفهرس: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(Indexed Publications) باسم الجامعة.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عدد الاستشهادات لكل عضو هيئة تدريس: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(Citations per Faculty).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التعاون البحثي الدولي: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(International Research Network - IRN).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⚠️ تنبيه هام: إذا نشرت بحثاً دون كتابة انتساب جامعة طيبة بالصيغة القياسية المعتمدة، فلن يُحسب للجامعة نهائياً!</a:t>
            </a:r>
            <a:endParaRPr b="1" i="0" sz="1050" u="none" cap="none" strike="noStrike">
              <a:solidFill>
                <a:srgbClr val="991B1B"/>
              </a:solidFill>
              <a:highlight>
                <a:srgbClr val="FE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B1A48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الصيغة الرسمية المعتمدة:</a:t>
            </a:r>
            <a:r>
              <a:rPr b="1" i="0" lang="en-US" sz="10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 Taibah University, Medina, Saudi Arabia</a:t>
            </a:r>
            <a:endParaRPr b="1" i="0" sz="1000" u="none" cap="none" strike="noStrike">
              <a:solidFill>
                <a:srgbClr val="0F766E"/>
              </a:solidFill>
              <a:highlight>
                <a:srgbClr val="CCFBF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[رؤية 2030]</a:t>
            </a:r>
            <a:r>
              <a:rPr b="0" i="0" lang="en-US" sz="12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مستهدفات رؤية 2030 وجامعة طيبة</a:t>
            </a:r>
            <a:endParaRPr b="0" i="0" sz="12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الارتقاء بالجامعات السعودية: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الوصول ضمن أفضل 200 جامعة عالمياً.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كفاءة الإنفاق البحثي: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رفع جودة وتعظيم أثر النشر العلمي النوعي.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قيمة كل استشهاد: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كل استشهاد يحصده بحثك هو نقطة إضافية في رصيد الجامعة عالمياً.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السمعة الأكاديمية: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إبراز الهوية الرقمية يرفع السمعة الأكاديمية (Academic Reputation) واستقطاب الشراكات.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السفير الرقمي: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عضو هيئة التدريس هو السفير الرقمي الأول للجامعة في الساحة البحثية العالمية.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3905250" y="1619250"/>
            <a:ext cx="4381500" cy="495300"/>
          </a:xfrm>
          <a:prstGeom prst="roundRect">
            <a:avLst>
              <a:gd fmla="val 50000" name="adj"/>
            </a:avLst>
          </a:prstGeom>
          <a:solidFill>
            <a:srgbClr val="122A6B">
              <a:alpha val="85098"/>
            </a:srgbClr>
          </a:solidFill>
          <a:ln cap="flat" cmpd="sng" w="14300">
            <a:solidFill>
              <a:srgbClr val="00C4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المحطة التدريبية 01 | الزمن المتوقع: 30 دقيقة</a:t>
            </a:r>
            <a:endParaRPr b="1" i="0" sz="130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371600" y="2305050"/>
            <a:ext cx="9445800" cy="85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المحطة الأولى: المنصات الأربع الكبرى لإدارة الهوية الرقمية</a:t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ORCID • Google Scholar • ResearchGate • Scopus Author ID</a:t>
            </a:r>
            <a:endParaRPr b="0" i="0" sz="180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714500" y="3952875"/>
            <a:ext cx="8763000" cy="1762200"/>
          </a:xfrm>
          <a:prstGeom prst="roundRect">
            <a:avLst>
              <a:gd fmla="val 10810" name="adj"/>
            </a:avLst>
          </a:prstGeom>
          <a:solidFill>
            <a:srgbClr val="122055">
              <a:alpha val="90196"/>
            </a:srgbClr>
          </a:solidFill>
          <a:ln cap="flat" cmpd="sng" w="1430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90500" lIns="342900" spcFirstLastPara="1" rIns="3429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الأهداف والمخرجات المباشرة لهذه المحطة:</a:t>
            </a:r>
            <a:endParaRPr b="1" i="0" sz="14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بناء وضبط معرف ORCID وربط الأبحاث والانتماء الرسمي لجامعة طيبة.</a:t>
            </a:r>
            <a:endParaRPr b="0" i="0" sz="120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توثيق حساب Google Scholar وتنظيفه ودمج النسخ المكررة للبحث.</a:t>
            </a:r>
            <a:endParaRPr b="0" i="0" sz="120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إدارة ملف ResearchGate ومراعاة حقوق النشر وسياسات الوصول المفتوح.</a:t>
            </a:r>
            <a:endParaRPr b="0" i="0" sz="120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فحص وتصحيح ملفات Scopus و Clarivate ودمج الحسابات المنقسمة.</a:t>
            </a:r>
            <a:endParaRPr b="0" i="0" sz="120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منصة ORCID: المعرف الرقمي المفتوح الشامل للباحثين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[الهوية الدائمة]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ما هو ORCID ولماذا هو إلزامي؟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منظمة دولية غير ربحية: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تمنح كل باحث كوداً فريداً مكوناً من 16 رقماً: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3025" lvl="0" marL="0" marR="142875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https://orcid.org/0000-0002-1825-0097</a:t>
            </a:r>
            <a:endParaRPr b="1" i="0" sz="10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شرط إلزامي: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للتقديم في معظم المجلات المصنفة </a:t>
            </a: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(Elsevier, Springer, Wiley, Nature)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مطلب أساسي: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لجهات التمويل </a:t>
            </a:r>
            <a:r>
              <a:rPr lang="en-US" sz="1150">
                <a:solidFill>
                  <a:srgbClr val="1E293B"/>
                </a:solidFill>
              </a:rPr>
              <a:t>وهيئات تنمية البحث والتطوير والابتكار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الوطنية والدولية </a:t>
            </a: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(RDIA)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حلقة وصل مركزية: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بين Scopus و Web of Science و Crossref و DataCite.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ملكية دائمة: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يظل ملكاً لك مدى الحياة بصرف النظر عن جامعتك أو وظيفتك.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[مكونات الملف] </a:t>
            </a: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المكونات الأساسية لملف ORCID الناجح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الاسم والبدائل (Also known as):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أضف كافة الصيغ التي كتبت بها اسمك سابقاً.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جهة الانتساب (Employment):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ربط جامعة طيبة باستخدام كود Research O</a:t>
            </a:r>
            <a:r>
              <a:rPr lang="en-US" sz="1150">
                <a:solidFill>
                  <a:srgbClr val="1E293B"/>
                </a:solidFill>
              </a:rPr>
              <a:t>rganization Registry-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ROR المؤسسي.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السيرة العلمية (Biography):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نبذة مقتضبة تركز على التخصص الدقيق والاهتمامات.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الأعمال والأبحاث (Works):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استيراد مؤتمت عبر الـ DOI أو أدوات الربط (Search &amp; Link).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التمويل والجوائز (Funding):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توثيق المشاريع والمنح البحثية الممولة.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نشاط عملي (1): محاكاة منصة ORCID على تطبيق الويب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[مختبر المحاكاة - 7 دقائق] </a:t>
            </a: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مهام المحاكاة الافتراضية داخل التطبيق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انتقل إلى نافذة: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[محاكي منصة ORCID]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في تطبيق الويب.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1: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تسجيل باحث افتراضي وإدخال الاسم وبدائل التهجئة.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2: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إضافة جهة العمل (جامعة طيبة - كلية العلوم الطبية التطبيقية).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3: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إضافة ورقة بحثية تجريبية عبر رقم المعرف الرقمي (DOI).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4: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تجربة مستويات الخصوصية الثلاثة (الجميع، الجهات الموثوقة، أنا فقط).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5: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الحصول على شارة إتمام محاكاة ORCID واستعراض دليل ما بعد الورشة.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[مزايا المحاكاة]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لماذا المحاكاة أفضل أثناء الورشة؟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تجنب تعطل رسائل التحقق عبر البريد الإلكتروني أثناء التدريب المباشر.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توفير بيئة تجريبية آمنة خالية من الأخطاء يمكن التدرب عليها دون قلق.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تزويدك بدليل مطبوع مفصل (خطوة بخطوة) للتسجيل الفعلي فور انتهاء الورشة.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التعرف على خفايا الإعدادات قبل تطبيقها على حسابك الرسمي الحقيقي.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أفضل ممارسات ORCID: الخصوصية والمزامنة التلقائية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[إدارة الخصوصية]</a:t>
            </a:r>
            <a:r>
              <a:rPr b="0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مصفوفة الخصوصية الثلاثية (Privacy Matrix)</a:t>
            </a:r>
            <a:endParaRPr b="0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الجميع (Everyone - الأخضر):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1" marL="9144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يجب تطبيقه على الاسم، جهة الانتساب الحالية، وقائمة الأبحاث المنشورة.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1" marL="9144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○"/>
            </a:pPr>
            <a:r>
              <a:rPr b="1" i="0" lang="en-US" sz="10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بدون هذا الخيار، تظل أبحاثك مخفية عن قواعد بيانات التصنيف!</a:t>
            </a:r>
            <a:endParaRPr b="1" i="0" sz="105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الجهات الموثوقة (Trusted Parties - الأصفر):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1" marL="9144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منح الإذن لمجلات مثل Elsevier و Springer Nature لإضافة أبحاثك تلقائياً.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أنا فقط (Only Me - الأحمر):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1" marL="914400" marR="0" rtl="1" algn="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34155"/>
              </a:buClr>
              <a:buSzPts val="105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للبيانات الشخصية الحساسة فقط (مثل البريد الشخصي الاحتياطي أو تاريخ الميلاد).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[الأتمتة الذكية]</a:t>
            </a:r>
            <a:r>
              <a:rPr b="0" i="0" lang="en-US" sz="11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ميزة التحديث التلقائي (Auto-Update)</a:t>
            </a:r>
            <a:endParaRPr b="0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تفعيل ربط Crossref و DataCite مع حسابك في ORCID: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1" marL="9144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بمجرد قبول بحثك ونشره ومنحه رقم DOI، يتم إرساله لحساب ORCID الخاص بك آلياً دون أي تدخل منك!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توفير ساعات من إدخال البيانات اليدوي المتكرر في كل مرة تنشر فيها بحثاً.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ضمان عدم نسيان أو سقوط أي ورقة بحثية جديدة من سجلك الأكاديمي.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تكامل ORCID مع أنظمة إدارة البحث بالجامعة (Pure / Converis).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52" name="Google Shape;2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باحث Google العلمي: واجهة الاكتشاف والاستشهاد الأوسع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[الأهمية والانتشار]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مكانة Google Scholar عالمياً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محرك البحث الأكاديمي الأكثر استخداماً بين الباحثين والطلاب حول العالم.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أوسع تغطية للفهرسة: يشمل المجلات المحكمة، وقائع المؤتمرات، الأطروحات، والكتب.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يحدث مؤشرات الاستشهاد بسرعة فائقة مقارنة بقواعد البيانات الأخرى.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يقدم لوحة مؤشرات واضحة: إجمالي الاستشهادات، معامل </a:t>
            </a:r>
            <a:r>
              <a:rPr b="1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h-index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، ومعامل </a:t>
            </a:r>
            <a:r>
              <a:rPr b="1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i10-index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حسابك فيه هو واجهتك الأولى عندما يبحث أي شخص عن اسمك في محرك بحث Google!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[شروط التوثيق] </a:t>
            </a: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الشروط الثلاثة لظهور الملف وتوثيقه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1. التوثيق بالبريد الجامعي الرسمي (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@taibahu.edu.sa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يمنحك عبارة 'بريد إلكتروني تم التحقق منه في taibahu.edu.sa'.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يربط أبحاثك بملف جامعة طيبة في تصنيف الجامعات.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2. تفعيل خيار 'Make my profile public' (الملف الشخصي متاح للعامة).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3. إضافة كلمات مفتاحية دقيقة (Keywords) تمثل تخصصك لسهولة الاكتشاف.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62" name="Google Shape;2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نشاط عملي (2): محاكاة منصة Google Scholar على تطبيق الويب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[مختبر المحاكاة - 6 دقائق] </a:t>
            </a: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مهام محاكاة Google Scholar في التطبيق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انتقل إلى نافذة: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[محاكي Google Scholar]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في تطبيق الويب.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1: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إدخال البريد الجامعي (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@taibahu.edu.sa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) وتجربة التوثيق.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2: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فحص قائمة أبحاث تجريبية ورصد أبحاث دخيلة لباحث يحمل اسماً مشابهاً.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3: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استبعاد الأبحاث غير الخاصة بك لحماية النزاهة العلمية.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4: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دمج نسختين مكررتين لنفس البحث لتوحيد الاستشهادات.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5: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ضبط إعدادات إضافة المقالات (المراجعة اليدوية </a:t>
            </a:r>
            <a:r>
              <a:rPr b="1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الإضافة التلقائية).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highlight>
                  <a:srgbClr val="FEE2E2"/>
                </a:highlight>
                <a:latin typeface="Arial"/>
                <a:ea typeface="Arial"/>
                <a:cs typeface="Arial"/>
                <a:sym typeface="Arial"/>
              </a:rPr>
              <a:t>[تحذير منهجي] </a:t>
            </a:r>
            <a:r>
              <a:rPr b="1" i="0" lang="en-US" sz="15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مخاطر إهمال تنظيف الحساب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إضافة أبحاث لباحثين آخرين يضر بسمعتك الأكاديمية ويعرض الحساب للشبهات.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تكرار نفس البحث يشتت الاقتباسات (مثلاً: نسخة المؤتمر 10 استشهادات ونسخة المجلة 15، بالدمج تصبح 25 استشهاداً!).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دمج النسخ يرفع معامل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h-index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فوراً إذا تخطى الاستشهاد الموحد حاجز العتبة المطلوبة.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DC2626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التحقق الدوري كل شهر يضمن نظافة سجلك العلمي.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72" name="Google Shape;2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استراتيجيات تنظيف وضبط حساب باحث Google العلمي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[خطوات الدمج]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معالجة التكرارات والأخطاء الشائعة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البحث عن أبحاث المؤتمرات والمسودات ومقارنتها بنسخة المجلة النهائية.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تحديد المربعات بجانب النسخ المتطابقة والضغط على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[Merge / دمج]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اختيار النسخة الأصح في العنوان وبيانات النشر لتكون هي الواجهة الأساسية.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في حال وجود بحث لا يخصك مطلقاً: اختر البحث واضغط على </a:t>
            </a:r>
            <a:r>
              <a:rPr b="1" i="0" lang="en-US" sz="11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[Delete / حذف]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يمكن استعادة الأبحاث المحذوفة خطأً من سلة المهملات داخل الملف الشخصي.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[تحسين الكلمات] </a:t>
            </a: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تحسين الظهور والكلمات المفتاحية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كتابة مجالات الاهتمام بدقة (مثال: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Medical Imaging, Radiology, AI in Healthcare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تجنب الكلمات العامة جداً مثل (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Medicine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أو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Science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) لأنها لا تظهرك في قوائم التخصص.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الضغط على الكلمة المفتاحية يتيح لك رؤية ترتيبك وترتيب زملائك في التخصص بالجامعة.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0F766E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إضافة رابط صفحتك الجامعية الرسمية على موقع جامعة طيبة في خانة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(Homepage)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ResearchGate: مجتمع التواصل الأكاديمي وبناء السمعة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[شبكة التواصل]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فيسبوك العلماء والباحثين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شبكة تواصل اجتماعي مخصصة حصرياً للمجتمع الأكاديمي والبحثي (+25 مليون باحث).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منصة استثنائية للاكتشاف السريع، قراءة الأوراق الحديثة، والتواصل المباشر مع المؤلفين.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مؤشر اهتمام البحث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(Research Interest Score)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 يقيس تفاعل الباحثين مع إنتاجك (قراءات، توصيات، اقتباسات).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خاصية طلب النص الكامل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(Request Full-text)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 تتيح للزملاء حول العالم طلب أبحاثك المغلقة بموجب الاستخدام الشخصي المسموح.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تتبع مشاريع الأبحاث الجارية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(Projects)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قبل نشرها الرسمي.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[التفاعل الاحترافي] </a:t>
            </a:r>
            <a:r>
              <a:rPr b="1" i="0" lang="en-US" sz="15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الاستخدام الأكاديمي الذكي للمنصة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متابعة الباحثين الرواد في تخصصك الدقيق وتلقي إشعارات بأبحاثهم الجديدة.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المشاركة في الإجابة عن الأسئلة العلمية في مجالك لبناء سمعتك الدولية.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إنشاء مشاريع بحثية ومشاركة التحديثات والبيانات الأولية مع فريقك.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D97706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تحميل تقارير أسبوعية تفصيلية تظهر من قرأ أبحاثك ومن أي جامعات ودول!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292" name="Google Shape;2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نشاط عملي (3): محاكاة منصة ResearchGate على تطبيق الويب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7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[مختبر المحاكاة - 6 دقائق]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مهام محاكاة ResearchGate في التطبيق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انتقل إلى نافذة: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[محاكي ResearchGate]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في تطبيق الويب.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المهمة 1: إعداد الملف الشخصي وتحديد الانتماء: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Taibah University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المهمة 2: تجربة رفع بحث وفحص شاشة حقوق الملكية الفكرية.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المهمة 3: التفريق العملي بين رفع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(نسخة المؤلف المقبولة AAM)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و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(نسخة الناشر النهائية)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المهمة 4: تجربة خاصية الرد على طلب نص كامل خاص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(Private Sharing)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00A887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المهمة 5: قراءة مؤشرات التفاعل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(Reads, Citations, Research Interest)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7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[الدروس المستفادة]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ماذا نتعلم من هذه التجربة؟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كيف تنشر أبحاثك دون الوقوع في أي نزاع قضائي مع دور النشر العالمية.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الفرق الجوهري بين المشاركة العامة للجميع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(Public)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والمشاركة الفردية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(Private)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كيف </a:t>
            </a:r>
            <a:r>
              <a:rPr lang="en-US" sz="1150">
                <a:solidFill>
                  <a:srgbClr val="1E293B"/>
                </a:solidFill>
              </a:rPr>
              <a:t>ي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ؤدي التفاعل المنتظم إلى مضاعفة قراءات أبحاثك بمعدل </a:t>
            </a:r>
            <a:r>
              <a:rPr b="1" i="0" lang="en-US" sz="11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4 أضعاف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مقارنة بتركها راكدة.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أهمية وضع ملخص جذاب وكلمات واضحة تشجع الباحثين على تحميل الورقة.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02" name="Google Shape;3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6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حقوق النشر والأرشفة الذاتية: ما المسموح نشره؟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[أنواع النسخ]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الصيغ الثلاث للورقة البحثية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1. المسودة الأولى للمؤلف (Preprint):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النسخة التي كتبتها قبل إرسالها للمجلة وقبل التحكيم (مسموح نشرها غالباً).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2. النسخة المقبولة للنشر (Author Accepted Manuscript - AAM / Postprint):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النسخة بعد التحكيم وتعديل الملاحظات ولكن بدون تنسيق الناشر وشعاره.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يسمح معظم الناشرين بمشاركتها في المستودعات أو بطلب خاص!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A48"/>
              </a:buClr>
              <a:buSzPts val="110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3. نسخة الناشر النهائية (Version of Record - Publisher PDF):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B1A48"/>
              </a:buClr>
              <a:buSzPts val="1100"/>
              <a:buFont typeface="Arial"/>
              <a:buChar char="○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النسخة المنسقة بشعار المجلة ورقم الصفحات. يمنع نشرها علناً إلا إذا كانت المجلة </a:t>
            </a:r>
            <a:r>
              <a:rPr lang="en-US" sz="1050">
                <a:solidFill>
                  <a:srgbClr val="334155"/>
                </a:solidFill>
              </a:rPr>
              <a:t>مفتوحة الوصول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(Open Access)!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[الفحص القانوني] </a:t>
            </a:r>
            <a:r>
              <a:rPr b="1" i="0" lang="en-US" sz="15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أداة Sherpa Romeo للتحقق الفوري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●"/>
            </a:pP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موقع عالمي رسمي مجاني </a:t>
            </a:r>
            <a:r>
              <a:rPr b="1" i="0" lang="en-US" sz="10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(v2.sherpa.ac.uk/romeo)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للتحقق من سياسات المجلات.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ابحث باسم المجلة لمعرفة ما تسمح به بدقة: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هل تسمح بالنشر الذاتي لنسخة المؤلف المقبولة؟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ما هي فترة الحظر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(Embargo Period)</a:t>
            </a: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إن وجدت؟ (مثال: 12 شهراً).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○"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ما هي الشروط الواجب كتابتها (مثل وضع رابط الـ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DOI</a:t>
            </a: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الرسمي للمجلة).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احمِ نفسك وجامعتك من مخالفات الملكية الفكرية باتباع هذه القواعد.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12" name="Google Shape;3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Scopus Author ID و Clarivate ResearcherID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[المعيار المؤسسي]</a:t>
            </a:r>
            <a:r>
              <a:rPr b="0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معرفات النشر المفهرس المرموق</a:t>
            </a:r>
            <a:endParaRPr b="0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Scopus (Elsevier</a:t>
            </a:r>
            <a:r>
              <a:rPr b="1" lang="en-US" sz="1150">
                <a:solidFill>
                  <a:srgbClr val="0B1A48"/>
                </a:solidFill>
              </a:rPr>
              <a:t>)o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و</a:t>
            </a:r>
            <a:r>
              <a:rPr lang="en-US" sz="1150">
                <a:solidFill>
                  <a:srgbClr val="1E293B"/>
                </a:solidFill>
              </a:rPr>
              <a:t>(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Web of Science (</a:t>
            </a:r>
            <a:r>
              <a:rPr b="1" lang="en-US" sz="1150">
                <a:solidFill>
                  <a:srgbClr val="0B1A48"/>
                </a:solidFill>
              </a:rPr>
              <a:t>Clarivate</a:t>
            </a:r>
            <a:r>
              <a:rPr b="1" lang="en-US" sz="1150">
                <a:solidFill>
                  <a:srgbClr val="0B1A48"/>
                </a:solidFill>
              </a:rPr>
              <a:t>: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هما المعياران الرسميان لتقييم الجامعات والترقيات والجوائز والاعتماد الأكاديمي.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لا تقوم بالتسجيل فيهما يدوياً؛ بل تنشئ المنظومة ملفاً تلقائياً بمجرد نشر أول بحث مفهرس لك!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معرف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Scopus Author ID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 رقم فريد مكون من 11 رقماً يربط أبحاثك في قاعدة Scopus.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معرف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Web of Science ResearcherID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 يربط سجلك ومراجعاتك في WoS و Publons سابقاً.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كلا المعرفين يعتمدان على الانتساب الصحيح لجامعة طيبة.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91B1B"/>
                </a:solidFill>
                <a:highlight>
                  <a:srgbClr val="FEE2E2"/>
                </a:highlight>
                <a:latin typeface="Arial"/>
                <a:ea typeface="Arial"/>
                <a:cs typeface="Arial"/>
                <a:sym typeface="Arial"/>
              </a:rPr>
              <a:t>[المشكلة والحل]</a:t>
            </a:r>
            <a:r>
              <a:rPr b="0" i="0" lang="en-US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مشكلة انقسام الحساب (Split Profiles)</a:t>
            </a:r>
            <a:endParaRPr b="0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الظاهرة الأكثر شيوعاً: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يكتشف الباحث أن لديه حسابين أو ثلاثة في Scopus!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الأسباب: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تغير طريقة كتابة الاسم، أو كتابة انتسابات مختلفة في أبحاث متعاقبة.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الأثر السلبي: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تشتت الاستشهادات، انخفاض معامل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h-index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الرسمي في Scopus، وضعف مؤشرات الباحث والجامعة.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الحل: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تقديم طلب دمج رسمي فوري عبر خدمة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(Author Feedback Wizard)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المجانية في Scopus.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1E293B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ربط حساب Scopus بـ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ORCID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لضمان تحديث السجلين بضغطة زر واحدة.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22" name="Google Shape;3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8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نشاط عملي (4): محاكاة دمج وتصحيح ملفات Scopus المنقسمة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8680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[مختبر المحاكاة - 6 دقائق] مهام محاكاة Scopus في التطبيق التفاعلي</a:t>
            </a:r>
            <a:endParaRPr b="1" i="0" sz="15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انتقل إلى نافذة: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[محاكي Scopus &amp; WoS] في تطبيق الويب.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1: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البحث عن باحث واكتشاف وجود ملفين منفصلين له في Scopus.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2: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تحديد الملفين والضغط على زر [دمج الملفات / Request Merge].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3: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مراجعة قائمة الأبحاث واستبعاد بحث دخيل واختيار الاسم المفضل.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4: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اعتماد انتساب (Taibah University) كجهة عمل رئيسية.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5: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تجربة خاصية المزامنة والتصدير المباشر إلى حساب ORCID.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8680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[التطبيق الفعلي]</a:t>
            </a:r>
            <a:r>
              <a:rPr b="1" i="0" lang="en-US" sz="15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ماذا تفعل بعد الورشة في Scopus الفعلي؟</a:t>
            </a:r>
            <a:endParaRPr b="1" i="0" sz="15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الدخول إلى: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rPr>
              <a:t>[link removed]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(متاح مجاناً دون اشتراك).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البحث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عن اسمك بكافة التهجئات المحتملة.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في حال وجود أكثر من ملف، اتبع الخطوات التي تدربت عليها اليوم بدقة.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فريق Elsevier يقوم بمعالجة الطلب وتوحيد الملف خلال </a:t>
            </a:r>
            <a:r>
              <a:rPr b="1" i="0" lang="en-US" sz="1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48 إلى 72 ساعة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عمل.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الاحتفاظ برقم التذكرة </a:t>
            </a:r>
            <a:r>
              <a:rPr b="1" i="0" lang="en-US" sz="1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(Case Number)</a:t>
            </a: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حتى يتم تأكيد الدمج النهائي.</a:t>
            </a:r>
            <a:endParaRPr b="0" i="0" sz="12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32" name="Google Shape;3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مصفوفة المقارنة الشاملة للمنصات الأربع الكبرى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7772400" y="1463040"/>
            <a:ext cx="3474600" cy="4389000"/>
          </a:xfrm>
          <a:prstGeom prst="roundRect">
            <a:avLst>
              <a:gd fmla="val 10964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[المعرف والمحرك]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ORCID و Google Scholar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ORCID: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الطبيعة: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معرف رقمي موحد ومفتوح.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التغطية: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شاملة لكل الإنتاج والجهات.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التحكم: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يدوي ومؤتمت من الباحث.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القوة: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المعيار الأساسي للنشر والتمويل.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Google Scholar: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الطبيعة: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محرك بحث واكتشاف عالمي.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التغطية: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الأوسع إطلاقاً (كل المصادر).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الميزة: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سريع جداً ومجاني ومرئي للجميع.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4251960" y="1463040"/>
            <a:ext cx="3291900" cy="4389000"/>
          </a:xfrm>
          <a:prstGeom prst="roundRect">
            <a:avLst>
              <a:gd fmla="val 11574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rPr>
              <a:t>[التواصل الأكاديمي]</a:t>
            </a:r>
            <a:r>
              <a:rPr b="1" i="0" lang="en-US" sz="13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 ResearchGate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الطبيعة: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شبكة تواصل أكاديمي وتفاعل اجتماعي.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الجمهور: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باحثون، زملاء، طلاب دراسات عليا.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الميزة التنافسية: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طلب النصوص الكاملة والمناقشات العلمية وتتبع قراءات الأبحاث أسبوعياً.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التنبيه: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الانتباه لحقوق الناشر عند رفع الأبحاث.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الأثر: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نشر سريع للسمعة وجذب الاستشهادات.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731520" y="1463040"/>
            <a:ext cx="3291900" cy="4389000"/>
          </a:xfrm>
          <a:prstGeom prst="roundRect">
            <a:avLst>
              <a:gd fmla="val 11574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524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[المعيار المؤسسي]</a:t>
            </a:r>
            <a:r>
              <a:rPr b="1" i="0" lang="en-US" sz="13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Scopus / Web of Science</a:t>
            </a:r>
            <a:endParaRPr b="1" i="0" sz="13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الطبيعة: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قواعد بيانات مفهرسة ومحكمة صارمة.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الإنشاء: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تلقائي بناءً على النشر المفهرس.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الأهمية: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المعيار الرسمي للترقيات والتصنيفات والجوائز الوطنية والاعتماد الدولي.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الإدارة: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مراجعة دورية لمنع انقسام الملفات.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القوة: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قياس مؤشرات h-index و FWCI المعتمدة.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343" name="Google Shape;3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0"/>
          <p:cNvSpPr/>
          <p:nvPr/>
        </p:nvSpPr>
        <p:spPr>
          <a:xfrm>
            <a:off x="4114800" y="1645920"/>
            <a:ext cx="3959400" cy="502800"/>
          </a:xfrm>
          <a:prstGeom prst="roundRect">
            <a:avLst>
              <a:gd fmla="val 16667" name="adj"/>
            </a:avLst>
          </a:prstGeom>
          <a:solidFill>
            <a:srgbClr val="122A6B"/>
          </a:solidFill>
          <a:ln cap="flat" cmpd="sng" w="15225">
            <a:solidFill>
              <a:srgbClr val="00C4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المحطة التدريبية 02 | الزمن المتوقع: 20 دقيقة</a:t>
            </a:r>
            <a:endParaRPr b="1" i="0" sz="130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1371600" y="2377440"/>
            <a:ext cx="9445800" cy="9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المحطة الثانية: فك شفرة مؤشرات الأثر البحثي والاقتباسات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معامل هيرش h-index • مؤشر i10 • مؤشر FWCI • المؤشرات البديلة Altmetrics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2011680" y="4114800"/>
            <a:ext cx="8165700" cy="1371600"/>
          </a:xfrm>
          <a:prstGeom prst="roundRect">
            <a:avLst>
              <a:gd fmla="val 16667" name="adj"/>
            </a:avLst>
          </a:prstGeom>
          <a:solidFill>
            <a:srgbClr val="122055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52400" lIns="365725" spcFirstLastPara="1" rIns="365725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1" i="0" lang="en-US" sz="138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الأهداف والمخرجات المباشرة لهذه المحطة:</a:t>
            </a:r>
            <a:endParaRPr b="1" i="0" sz="138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124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0" i="0" lang="en-US" sz="12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الفهم الرياضي والبياني الدقيق لمعامل هيرش (h-index) ونقاط قوته وحدوده.</a:t>
            </a:r>
            <a:endParaRPr b="1" i="0" sz="124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124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0" i="0" lang="en-US" sz="12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التعرف على مؤشر الاقتباس الموزون حقلياً (FWCI) المعتمد في التصنيفات.</a:t>
            </a:r>
            <a:endParaRPr b="1" i="0" sz="124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124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0" i="0" lang="en-US" sz="12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قياس الأثر المجتمعي والإعلامي والسياسي عبر المؤشرات البديلة (Altmetrics).</a:t>
            </a:r>
            <a:endParaRPr b="1" i="0" sz="124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124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0" i="0" lang="en-US" sz="12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تطبيق عملي عبر المختبر التفاعلي لحساب معامل h والتنبؤ بنموه.</a:t>
            </a:r>
            <a:endParaRPr b="1" i="0" sz="124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52" name="Google Shape;3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معامل هيرش (h-index): تعريفه، حسابه، ورسمه البياني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[المفهوم الرياضي]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التعريف العلمي الدقيق لمعامل h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B1A48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ابتكره الفيزيائي خورخي هيرش (Jorge Hirsch) عام 2005.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A48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التعريف: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الباحث لديه معامل هيرش يساوي (h) إذا كان قد نشر (h) من الأوراق البحثية، بحيث نالت كل ورقة منها على الأقل (h) من الاستشهادات.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625" lvl="0" marL="45720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A48"/>
              </a:buClr>
              <a:buSzPts val="1150"/>
              <a:buFont typeface="Arial"/>
              <a:buChar char="●"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طريقة الحساب الرياضية البسيطة: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رتّب جميع أبحاثك تنازلياً حسب عدد الاستشهادات من الأكبر للأصغر.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ابحث عن آخر ورقة يكون فيها: 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[عدد الاستشهادات ≥ ترتيب الورقة]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هذا الترتيب هو معامل h-index الخاص بك!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[تطبيق رقمي]</a:t>
            </a: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مثال توضيحي بالأرقام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باحث لديه 5 أبحاث بالاستشهادات التالية:</a:t>
            </a:r>
            <a:endParaRPr b="1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البحث 1 (الترتيب 1): 45 استشهاداً (45 ≥ 1)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البحث 2 (الترتيب 2): 20 استشهاداً (20 ≥ 2)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البحث 3 (الترتيب 3): 8 استشهادات (8 ≥ 3)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✔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البحث 4 (الترتيب 4): 4 استشهادات (4 ≥ 4)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✘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البحث 5 (الترتيب 5): 2 استشهادين (2 ليست ≥ 5)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النتيجة: 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معامل h-index لهذا الباحث هو (4)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لكي يصبح معامله (5)، يحتاج البحث رقم 5 إلى 3 استشهادات إضافية فقط!</a:t>
            </a:r>
            <a:endParaRPr b="0" i="0" sz="10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62" name="Google Shape;3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2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تحليل نقدي لمعامل h-index: حالات مقارنة وما يخفيه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0975" lIns="228600" spcFirstLastPara="1" rIns="228600" wrap="square" tIns="2000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[مفارقة المقارنة]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دراسة حالة: باحث (أ) مقابل باحث (ب)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الباحث (أ) - استشهاد تراكمي ضخم: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5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- نشر 4 أبحاث نالت: </a:t>
            </a:r>
            <a:r>
              <a:rPr b="1" i="0" lang="en-US" sz="10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[200, 150, 80, 70]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المجموع: </a:t>
            </a: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500 استشهاد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5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- معامل هيرش له = </a:t>
            </a:r>
            <a:r>
              <a:rPr b="1" i="0" lang="en-US" sz="10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(4)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فقط!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الباحث (ب) - أبحاث عديدة باقتباسات معتدلة: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5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- نشر 10 أبحاث نالت كل منها: </a:t>
            </a:r>
            <a:r>
              <a:rPr b="1" i="0" lang="en-US" sz="10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[10, 10, 10, 10, 10, 10, 10, 10, 10, 10]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5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- المجموع: </a:t>
            </a:r>
            <a:r>
              <a:rPr b="1" i="0" lang="en-US" sz="10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100 استشهاد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فقط.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5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- معامل هيرش له = </a:t>
            </a: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(10)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المفارقة:</a:t>
            </a: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rgbClr val="334155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rPr>
              <a:t>الباحث (ب) معامله أكثر من ضعف الباحث (أ) رغم أن الباحث (أ) نال 5 أضعاف الاستشهادات!</a:t>
            </a:r>
            <a:endParaRPr b="1" i="0" sz="1100" u="none" cap="none" strike="noStrike">
              <a:solidFill>
                <a:srgbClr val="0B1A48"/>
              </a:solidFill>
              <a:highlight>
                <a:srgbClr val="F1F5F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0975" lIns="228600" spcFirstLastPara="1" rIns="228600" wrap="square" tIns="2000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[الحدود المنهجية]</a:t>
            </a:r>
            <a:r>
              <a:rPr b="1" i="0" lang="en-US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العيوب الهيكلية لمعامل h-index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التحيز لعمر الباحث </a:t>
            </a:r>
            <a:r>
              <a:rPr b="1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(Career Age Bias)</a:t>
            </a: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1" i="0" lang="en-US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ينحاز تلقائياً للأساتذة القدامى على حساب الشباب لأن تراكم الاقتباسات يحتاج سنوات.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اختلاف الحقول العلمية:</a:t>
            </a:r>
            <a:br>
              <a:rPr b="1" i="0" lang="en-US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معدل الاستشهاد في العلوم الطبية الحيوية أعلى بعشرات المرات من الرياضيات أو الدراسات الإنسانية.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إهمال ترتيب المؤلفين:</a:t>
            </a:r>
            <a:br>
              <a:rPr b="1" i="0" lang="en-US" sz="11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يعامل المؤلف الأول والمؤلف العاشر بنفس النتيجة تماماً.</a:t>
            </a:r>
            <a:endParaRPr b="1" i="0" sz="1100" u="none" cap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الخلاصة:</a:t>
            </a:r>
            <a:r>
              <a:rPr b="1" i="0" lang="en-US" sz="1100" u="none" cap="none" strike="noStrike">
                <a:solidFill>
                  <a:srgbClr val="DC2626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00" u="none" cap="none" strike="noStrike">
                <a:solidFill>
                  <a:srgbClr val="7F1D1D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rPr>
              <a:t>h-index مؤشر مفيد ومهم ولكنه لا يجوز أن يكون المقياس الوحيد لتقييم جدارة الباحث!</a:t>
            </a:r>
            <a:endParaRPr b="1" i="0" sz="1100" u="none" cap="none" strike="noStrike">
              <a:solidFill>
                <a:srgbClr val="DC2626"/>
              </a:solidFill>
              <a:highlight>
                <a:srgbClr val="FEF2F2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72" name="Google Shape;3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3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مؤشر i10-index وإجمالي الاستشهادات (Total Citations)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[مؤشر i10]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مؤشر i10-index الخاص بـ Google Scholar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ابتكرته شركة Google عام 2011 لمرافقة مؤشر هيرش.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التعريف: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عدد الأوراق البحثية للباحث التي نال كل منها (10) استشهادات على الأقل.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مؤشر بسيط وسهل الفهم لقياس عدد الأبحاث ذات الأثر الملموس.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يساعد الباحثين الشباب وحديثي التخرج في إبراز أثر أبحاثهم سريعاً قبل تضخم معامل h.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يظهر مباشرة في لوحة معلومات حسابك على Google Scholar.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highlight>
                  <a:srgbClr val="CCFBF1"/>
                </a:highlight>
                <a:latin typeface="Arial"/>
                <a:ea typeface="Arial"/>
                <a:cs typeface="Arial"/>
                <a:sym typeface="Arial"/>
              </a:rPr>
              <a:t>[مجموع الاقتباسات]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إجمالي الاستشهادات ومعدل النمو السنوي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إجمالي الاستشهادات (Total Citations):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المجموع الكلي لكل استشهاد نالته أي ورقة منسوبة لك.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الرسم البياني السنوي: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يظهر مسار نمو تأثيرك العلمي وتصاعد الاهتمام بأبحاثك.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استشهادات آخر 5 سنوات (Since 2021):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معيار حيوي يوضح حداثة نشاطك البحثي الحالي.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الأبحاث قاطرة الاستشهاد (Citation Engines):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عادة ما تمثل 20% من أبحاث الباحث أكثر من 80% من مجموع استشهاداته الكلي (مبدأ باريتو).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82" name="Google Shape;3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4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مؤشر الاقتباس الموزون حقلياً (FWCI): المعيار الذهبي في Scopus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[المعيار العادل] </a:t>
            </a: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ما هو مؤشر FWCI ولماذا هو الأعدل؟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Field-Weighted Citation Impact (FWCI):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المؤشر المعتمد لدى Elsevier وهيئة تقويم التعليم (ETEC).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يقارن عدد الاستشهادات التي نالها بحثك بالمتوسط العالمي المتوقع لأبحاث من نفس: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 التخصص الدقيق </a:t>
            </a:r>
            <a:r>
              <a:rPr b="1" i="0" lang="en-US" sz="10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(Subject Area)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 نوع الوثيقة </a:t>
            </a:r>
            <a:r>
              <a:rPr b="1" i="0" lang="en-US" sz="10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(مقالة، مراجعة، مؤتمر)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 سنة النشر </a:t>
            </a:r>
            <a:r>
              <a:rPr b="1" i="0" lang="en-US" sz="10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(Year of Publication)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قيمة 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(1.00)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تعني أن بحثك </a:t>
            </a:r>
            <a:r>
              <a:rPr lang="en-US" sz="1100">
                <a:solidFill>
                  <a:srgbClr val="1E293B"/>
                </a:solidFill>
              </a:rPr>
              <a:t>يقيم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تماماً عند المتوسط العالمي لإنتاج العالم في تخصصك.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قيمة 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(1.50)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تعني أن بحثك استُشهد به بنسبة 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أكثر من المتوسط العالمي!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[الأثر المؤسسي]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تطبيقات FWCI في ترقيات ودعم جامعة طيبة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يحل مشكلة المقارنة الظالمة بين التخصصات الطبية والهندسية والإنسانية.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تعتمد عليه تصنيفات الجامعات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(THE World University Rankings)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لقياس جودة البحث.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استهداف مؤشر 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FWCI &gt; 1.20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في أبحاثك يضعك ضمن نخبة الباحثين المؤثرين عالمياً.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أوراق المراجعة المنهجية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(Systematic Reviews)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والأوراق ذات التعاون الدولي تحقق عادة أعلى معدلات FWCI.</a:t>
            </a:r>
            <a:endParaRPr b="0" i="0" sz="11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392" name="Google Shape;3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5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5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المؤشرات البديلة (Altmetrics): قياس الحضور المجتمعي والسياسي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[الأثر الشامل]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ما وراء الاستشهادات الأكاديمية التقليدية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الاستشهادات في المجلات تحتاج عادة من سنة إلى 3 سنوات لتظهر في Scopus و WoS.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المؤشرات البديلة (Alternative Metrics - Altmetrics):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ترصد التأثير الفوري لبحثك عبر: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الاستشهاد في وثائق السياسات الحكومية ومنظمة الصحة العالمية (Policy Documents).</a:t>
            </a:r>
            <a:endParaRPr b="1" i="0" sz="10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براءات الاختراع والتطبيقات الصناعية المعتمدة (Patents).</a:t>
            </a:r>
            <a:endParaRPr b="1" i="0" sz="10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التغطيات الإعلامية والصحف العالمية المرموقة (News Mentions).</a:t>
            </a:r>
            <a:endParaRPr b="1" i="0" sz="10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التفاعل عبر شبكات التواصل (X / Twitter, LinkedIn, Wikipedia).</a:t>
            </a:r>
            <a:endParaRPr b="1" i="0" sz="10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8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الحفظ في منصات إدارة المراجع مثل Mendeley.</a:t>
            </a:r>
            <a:endParaRPr b="1" i="0" sz="10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EF3C7">
              <a:alpha val="20000"/>
            </a:srgbClr>
          </a:solidFill>
          <a:ln cap="flat" cmpd="sng" w="15250">
            <a:solidFill>
              <a:srgbClr val="F59E0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[دونات الألتمركس] </a:t>
            </a:r>
            <a:r>
              <a:rPr b="1" i="0" lang="en-US" sz="14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شعار Altmetric Donut وألوانه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دونات الألتمركس متعددة الألوان؛ كل لون يمثل مصدراً مختلفاً للأثر: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▪ الأزرق الداكن: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تويتر / إكس.</a:t>
            </a:r>
            <a:endParaRPr b="1" i="0" sz="10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▪ الأحمر: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الأخبار والصحف العالمية.</a:t>
            </a:r>
            <a:endParaRPr b="1" i="0" sz="10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▪ الأخضر الفاتح: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ويكيبيديا.</a:t>
            </a:r>
            <a:endParaRPr b="1" i="0" sz="10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333EA"/>
                </a:solidFill>
                <a:latin typeface="Arial"/>
                <a:ea typeface="Arial"/>
                <a:cs typeface="Arial"/>
                <a:sym typeface="Arial"/>
              </a:rPr>
              <a:t>▪ البنفسجي: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وثائق السياسات وصناع القرار.</a:t>
            </a:r>
            <a:endParaRPr b="1" i="0" sz="10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ارتفاع مؤشر Altmetric يعطي إشارة مبكرة قوية بأن البحث سينال استشهادات أكاديمية عالية مستقبلاً.</a:t>
            </a:r>
            <a:endParaRPr b="1" i="0" sz="110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8651" y="4176776"/>
            <a:ext cx="3582026" cy="2521725"/>
          </a:xfrm>
          <a:prstGeom prst="rect">
            <a:avLst/>
          </a:prstGeom>
          <a:solidFill>
            <a:srgbClr val="FEF3C7">
              <a:alpha val="20000"/>
            </a:srgbClr>
          </a:solidFill>
          <a:ln cap="flat" cmpd="sng" w="15250">
            <a:solidFill>
              <a:srgbClr val="F59E0B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03" name="Google Shape;4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6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نشاط عملي (5): المختبر التفاعلي لحساب معامل h ومحاكاة القفزات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[مختبر المحاكاة - 6 دقائق]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مهام المختبر التفاعلي في تطبيق الويب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توجه إلى نافذة: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[المختبر التفاعلي لحساب معامل h]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في تطبيق الويب.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1: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تحريك أشرطة الاستشهاد للأوراق الـ 10 الافتراضية وملاحظة حركة خط العتبة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(Threshold Line)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2: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اختبار حالة الهضبة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(Plateau)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 زيادة استشهادات الورقة الأولى من 50 إلى 100 وملاحظة ثبات h-index!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3: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تفعيل مؤشر 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[الورقة الذهبية المستهدفة]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 اكتشف الورقة التي يفصلها استشهاد واحد فقط عن رفع معاملك بالكامل.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المهمة 4: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إدخال بيانات أبحاثك الحقيقية لرؤية خارطة طريقك لرفع المعامل في المرحلة القادمة.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1A48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[الاستراتيجية الذكية]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الاستراتيجية الذهبية لرفع معامل h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قاعدة التركيز الذكي: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لا توزع جهدك الترويجي عشوائياً.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حدد أوراقك البحثية التي تقع تحت خط الـ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h-index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مباشرة بفارق استشهاد أو اثنين.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قم بتنشيط هذه الأوراق المحددة بمشاركتها في المؤتمرات وعبر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وإرسالها للمتخصصين في مجالك.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كل استشهاد جديد تحصده هذه </a:t>
            </a: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الورقة الذهبية</a:t>
            </a: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يرفع معامل هيرش لحسابك بالكامل درجة كاملة!</a:t>
            </a:r>
            <a:endParaRPr b="1" i="0" sz="11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413" name="Google Shape;4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7"/>
          <p:cNvSpPr/>
          <p:nvPr/>
        </p:nvSpPr>
        <p:spPr>
          <a:xfrm>
            <a:off x="4114800" y="1645920"/>
            <a:ext cx="3959400" cy="502800"/>
          </a:xfrm>
          <a:prstGeom prst="roundRect">
            <a:avLst>
              <a:gd fmla="val 16667" name="adj"/>
            </a:avLst>
          </a:prstGeom>
          <a:solidFill>
            <a:srgbClr val="122A6B"/>
          </a:solidFill>
          <a:ln cap="flat" cmpd="sng" w="15225">
            <a:solidFill>
              <a:srgbClr val="00C4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المحطة التدريبية 03 | الزمن المتوقع: 15 دقيقة</a:t>
            </a:r>
            <a:endParaRPr b="1" i="0" sz="130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7"/>
          <p:cNvSpPr txBox="1"/>
          <p:nvPr/>
        </p:nvSpPr>
        <p:spPr>
          <a:xfrm>
            <a:off x="1371600" y="2377440"/>
            <a:ext cx="9445800" cy="9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المحطة الثالثة: استراتيجيات مضاعفة الاستشهاد والشراكات الدولية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الوصول المفتوح • تحسين محركات البحث الأكاديمية (SEO) • بناء شبكات التعاون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2011680" y="4114800"/>
            <a:ext cx="8165700" cy="1371600"/>
          </a:xfrm>
          <a:prstGeom prst="roundRect">
            <a:avLst>
              <a:gd fmla="val 16667" name="adj"/>
            </a:avLst>
          </a:prstGeom>
          <a:solidFill>
            <a:srgbClr val="122055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52400" lIns="365750" spcFirstLastPara="1" rIns="36575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3"/>
              <a:buFont typeface="Arial"/>
              <a:buNone/>
            </a:pPr>
            <a:r>
              <a:rPr b="1" i="0" lang="en-US" sz="1603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الأهداف والمخرجات المباشرة لهذه المحطة:</a:t>
            </a:r>
            <a:endParaRPr b="1" i="0" sz="1603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10"/>
              <a:buFont typeface="Arial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استثمار ميزة الوصول المفتوح (Open Access Advantage) لرفع القراءات.</a:t>
            </a:r>
            <a:endParaRPr b="0" i="0" sz="15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110"/>
              <a:buFont typeface="Arial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هندسة العناوين والملخصات لزيادة الاكتشاف في محركات البحث الأكاديمية.</a:t>
            </a:r>
            <a:endParaRPr b="0" i="0" sz="15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110"/>
              <a:buFont typeface="Arial"/>
              <a:buNone/>
            </a:pPr>
            <a:r>
              <a:rPr b="0" i="0" lang="en-US" sz="15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استراتيجيات تشكيل وتوسيع شبكات التعاون والفرق البحثية الدولية.</a:t>
            </a:r>
            <a:endParaRPr b="0" i="0" sz="151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22" name="Google Shape;4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8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ميزة الوصول المفتوح (The Open Access Citation Advantage)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[تفوق الوصول المفتوح]</a:t>
            </a:r>
            <a:r>
              <a:rPr b="1" i="0" lang="en-US" sz="16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حقائق مثبتة بالأرقام حول الوصول المفتوح</a:t>
            </a:r>
            <a:endParaRPr b="1" i="0" sz="16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الأبحاث المنشورة بنظام الوصول المفتوح (Open Access) تنال استشهادات أكثر بنسبة تتراوح بين 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30% إلى 200%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مقارنة بالأبحاث المغلقة المدفوعة.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تحصل على عدد تحميلات وقراءات (Downloads / Views) أعلى بما يعادل 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4 أضعاف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تنتشر بين الباحثين في الدول النامية والجامعات التي لا تملك اشتراكات سنوية مكلفة في دور النشر.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تخدم مستهدفات جامعة طيبة في سرعة تداول المعرفة والمشاركة العلمية العالمية.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[المسارات الثلاثة] مسارات الوصول المفتوح وخيارات الباحث</a:t>
            </a:r>
            <a:endParaRPr b="1" i="0" sz="16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3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الوصول المفتوح الذهبي (Gold OA):</a:t>
            </a: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نشر الورقة في مجلة مفتوحة بالكامل وتكون متاحة للجميع فوراً.</a:t>
            </a:r>
            <a:endParaRPr b="1" i="0" sz="13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3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الوصول المفتوح الأخضر (Green OA / Self-archiving):</a:t>
            </a:r>
            <a:endParaRPr b="1" i="0" sz="13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145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⁃ نشر البحث في مجلة اشتراكات تقليدية بدون دفع أي رسوم.</a:t>
            </a:r>
            <a:endParaRPr b="1" i="0" sz="12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145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⁃ ثم إيداع نسخة المؤلف المقبولة (AAM) في مستودع جامعة طيبة الرقمي أو مستودعات التخصص (مثل arXiv و bioRxiv و SSRN).</a:t>
            </a:r>
            <a:endParaRPr b="1" i="0" sz="12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3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الوصول المفتوح الماسي (Diamond OA):</a:t>
            </a: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مجلات مفتوحة بالكامل مدعومة ومجانية للمؤلف والقارئ معاً.</a:t>
            </a:r>
            <a:endParaRPr b="1" i="0" sz="13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32" name="Google Shape;4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9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9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تحسين محركات البحث الأكاديمية (Academic SEO)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9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[هندسة المحتوى] </a:t>
            </a:r>
            <a:r>
              <a:rPr b="1" i="0" lang="en-US" sz="17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كيف تبحث خوارزميات Scholar و PubMed؟</a:t>
            </a:r>
            <a:endParaRPr b="1" i="0" sz="17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صياغة عنوان البحث (Article Title):</a:t>
            </a:r>
            <a:endParaRPr b="1" i="0" sz="14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⁃ ضع الكلمات المفتاحية الرئيسية في أول 65 حرفاً من العنوان.</a:t>
            </a:r>
            <a:endParaRPr b="0" i="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⁃ تجنب العناوين الغامضة أو الشعرية؛ استخدم عناوين تصف المشكلة والمنهجية والنتيجة بدقة.</a:t>
            </a:r>
            <a:endParaRPr b="0" i="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⁃ 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مثال ضعيف: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(A Novel Insight into Healing) | 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مثال ممتاز: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(Comparative Efficacy of Low-Dose CT vs MRI in Early Detection of Spinal Injuries: A Multicenter Cohort).</a:t>
            </a:r>
            <a:endParaRPr b="0" i="0" sz="13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الملخص التنفيذي (Structured Abstract):</a:t>
            </a:r>
            <a:endParaRPr b="1" i="0" sz="14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⁃ تكرار المصطلحات المفتاحية بذكاء وطبيعية (3 إلى 4 مرات) في الملخص.</a:t>
            </a:r>
            <a:endParaRPr b="0" i="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1" algn="r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⁃ توضيح سياق الدراسة والأدوات المستخدمة والنتائج القابلة للاقتباس المباشر.</a:t>
            </a:r>
            <a:endParaRPr b="0" i="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[الكلمات المفتاحية] </a:t>
            </a:r>
            <a:r>
              <a:rPr b="1" i="0" lang="en-US" sz="19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اختيار الكلمات المفتاحية (Keywords)</a:t>
            </a:r>
            <a:endParaRPr b="1" i="0" sz="19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لا تكرر الكلمات الموجودة بالفعل في العنوان؛ استغل حقل الكلمات المفتاحية لمصطلحات بديلة ومرادفات يبحث بها الآخرون.</a:t>
            </a:r>
            <a:endParaRPr b="0" i="0" sz="16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استخدم المكانز الطبية والعلمية المعتمدة (مثل MeSH في الطب والعلوم الصحية).</a:t>
            </a:r>
            <a:endParaRPr b="0" i="0" sz="16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فحص العبارات الأكثر بحثاً في تخصصك عبر Google Trends و Scholar Metrics.</a:t>
            </a:r>
            <a:endParaRPr b="0" i="0" sz="16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6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كلما كان ظهور بحثك في الصفحة الأولى لنتائج البحث أعلى، تضاعفت احتمالية اقتباسه!</a:t>
            </a:r>
            <a:endParaRPr b="1" i="0" sz="16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42" name="Google Shape;4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0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بناء شبكات التعاون والفرق البحثية الدولية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[أثر التعاون]</a:t>
            </a:r>
            <a:r>
              <a:rPr b="1" i="0" lang="en-US" sz="16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قوة النشر الدولي المشترك (International Co-authorship)</a:t>
            </a:r>
            <a:endParaRPr b="1" i="0" sz="16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الأبحاث التي تضم مؤلفين دوليين من عدة دول تحظى بـ 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3 أضعاف الاستشهادات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مقارنة بالأبحاث المحلية الفردية.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مؤشر رئيسي في تصنيف الجامعات (International Research Network - IRN).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تكامل الخبرات والموارد: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الوصول إلى مختبرات متقدمة، عينات نادرة، وحسابات سحابية فائقة.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توسيع دائرة الاقتباس الجغرافي: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أبحاثك تصبح معروفة ومقروءة في جامعات شركائك في أوروبا وأمريكا وآسيا.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[خطوات الشراكة] </a:t>
            </a:r>
            <a:r>
              <a:rPr b="1" i="0" lang="en-US" sz="16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كيف تستقطب شريكاً بحثياً دولياً مرموقاً؟</a:t>
            </a:r>
            <a:endParaRPr b="1" i="0" sz="16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1. الاستكشاف الذكي: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استخدم Scopus و Scholar لتحديد الباحثين الرواد في تخصصك الدقيق.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2. تحديد نقطة التقاء واقعية: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ما القيمة المضافة التي ستقدمها لمجموعتهم؟ (بيانات محلية فريدة، عينات مرضى، تمويل مشترك، أو تحليل تقني متخصص).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3. الخطاب الاحترافي المقنع (Pitch Email):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خطاب مقتضب ومباشر يشيد بآخر أوراقهم ويقترح مشروعاً محدداً بوضوح.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• 4. التطبيق العلمي: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سنطبق الآن صياغة هذا الخطاب باحترافية عبر مختبر الذكاء الاصطناعي الموجه.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452" name="Google Shape;4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1"/>
          <p:cNvSpPr/>
          <p:nvPr/>
        </p:nvSpPr>
        <p:spPr>
          <a:xfrm>
            <a:off x="4114800" y="1645920"/>
            <a:ext cx="3959400" cy="502800"/>
          </a:xfrm>
          <a:prstGeom prst="roundRect">
            <a:avLst>
              <a:gd fmla="val 16667" name="adj"/>
            </a:avLst>
          </a:prstGeom>
          <a:solidFill>
            <a:srgbClr val="122A6B"/>
          </a:solidFill>
          <a:ln cap="flat" cmpd="sng" w="15225">
            <a:solidFill>
              <a:srgbClr val="00C4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7625" lIns="95250" spcFirstLastPara="1" rIns="95250" wrap="square" tIns="47625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المحطة التدريبية 04 | الزمن المتوقع: 20 دقيقة</a:t>
            </a:r>
            <a:endParaRPr b="1" i="0" sz="130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1"/>
          <p:cNvSpPr txBox="1"/>
          <p:nvPr/>
        </p:nvSpPr>
        <p:spPr>
          <a:xfrm>
            <a:off x="1371600" y="2377440"/>
            <a:ext cx="9445800" cy="98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المحطة الرابعة: مختبر الذكاء الاصطناعي التوليدي المنضبط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Google AI Studio • Gemini Flash • الأوامر الموجهة المقيدة (Prompt Guardrails)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1"/>
          <p:cNvSpPr/>
          <p:nvPr/>
        </p:nvSpPr>
        <p:spPr>
          <a:xfrm>
            <a:off x="2011680" y="4114800"/>
            <a:ext cx="8165700" cy="1371600"/>
          </a:xfrm>
          <a:prstGeom prst="roundRect">
            <a:avLst>
              <a:gd fmla="val 16667" name="adj"/>
            </a:avLst>
          </a:prstGeom>
          <a:solidFill>
            <a:srgbClr val="122055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52400" lIns="342900" spcFirstLastPara="1" rIns="342900" wrap="square" tIns="1524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1" i="0" lang="en-US" sz="141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الأهداف والمخرجات المباشرة لهذه المحطة:</a:t>
            </a:r>
            <a:endParaRPr b="1" i="0" sz="141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0" i="0" lang="en-US" sz="13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حوكمة استخدام الذكاء الاصطناعي في البحث الأكاديمي وضمان النزاهة العلمية.</a:t>
            </a:r>
            <a:endParaRPr b="1" i="0" sz="134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0" i="0" lang="en-US" sz="13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توظيف الأوامر الموجهة المقيدة بملء الفراغات لمنع الهلوسة وإساءة الاستخدام.</a:t>
            </a:r>
            <a:endParaRPr b="1" i="0" sz="134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0" i="0" lang="en-US" sz="13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تطبيق 4 أدوات ذكية: محسّن العناوين، الملخص التبسيطي، خطاب الشراكة، وخطة الترويج.</a:t>
            </a:r>
            <a:endParaRPr b="1" i="0" sz="134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0" i="0" lang="en-US" sz="13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تجربة حية متكاملة داخل تطبيق الويب بنموذج Gemini Flash.</a:t>
            </a:r>
            <a:endParaRPr b="1" i="0" sz="134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61" name="Google Shape;4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2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حوكمة الذكاء الاصطناعي: الأوامر الموجهة المقيدة (Prompt Guardrails)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097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[النزاهة الأكاديمية]</a:t>
            </a:r>
            <a:r>
              <a:rPr b="1" i="0" lang="en-US" sz="16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مبدأ النزاهة والحد من إساءة الاستخدام</a:t>
            </a:r>
            <a:endParaRPr b="1" i="0" sz="16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الذكاء الاصطناعي ليس مؤلفاً بديلاً 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(Author)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، ولا يمتلك الأهلية الأخلاقية للأصالة.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الاستخدام السليم: مساعد بحثي استشاري لتحسين الصياغة، التدقيق، وتحليل القنوات والترويج.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مخاطر المدخلات الحرة المفتوحة: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▪ الحصول على مخرجات مضللة أو هلوسة </a:t>
            </a:r>
            <a:r>
              <a:rPr b="1" i="0" lang="en-US" sz="13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(Hallucination)</a:t>
            </a: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غير أكاديمية.</a:t>
            </a:r>
            <a:endParaRPr b="1" i="0" sz="13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• الحل المعتمد في </a:t>
            </a:r>
            <a:r>
              <a:rPr b="1" lang="en-US" sz="1350">
                <a:solidFill>
                  <a:srgbClr val="00A887"/>
                </a:solidFill>
              </a:rPr>
              <a:t>ال</a:t>
            </a:r>
            <a:r>
              <a:rPr b="1" i="0" lang="en-US" sz="13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تطبيق: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الأوامر الموجهة المقيدة والمغلقة </a:t>
            </a: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(Locked Prompt Templates)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2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7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82875" lIns="228600" spcFirstLastPara="1" rIns="228600" wrap="square" tIns="20115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[منهجية العمل]  كيف تعمل القوالب المقيدة في التطبيق؟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الأمر الموجه الأساسي (System Prompt) مصمم مسبقاً ومحكم أكاديمياً ومغلق من التعديل.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المتدرب يطلب منه فقط ملء فراغات محددة تناسب بحثه وتخصصه: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  • [التخصص الدقيق] + [عنوان المسودة] + [الكلمات المفتاحية] + [الجهة المستهدفة].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يتم دمج مدخلاتك داخل القالب الآمن وإرسالها لنموذج Gemini Flash عبر الخادم بأمان.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تحصل على نتائج أكاديمية منضبطة وعالية الجودة متوافقة مع معايير النشر العالمي.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71" name="Google Shape;4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3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Tahoma"/>
                <a:ea typeface="Tahoma"/>
                <a:cs typeface="Tahoma"/>
                <a:sym typeface="Tahoma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Tahoma"/>
                <a:ea typeface="Tahoma"/>
                <a:cs typeface="Tahoma"/>
                <a:sym typeface="Tahoma"/>
              </a:rPr>
              <a:t>أداة AI (1): مُحسّن العناوين والكلمات المفتاحية </a:t>
            </a:r>
            <a:r>
              <a:rPr b="0" i="0" lang="en-US" sz="1800" u="none" cap="none" strike="noStrike">
                <a:solidFill>
                  <a:srgbClr val="00A887"/>
                </a:solidFill>
                <a:latin typeface="Tahoma"/>
                <a:ea typeface="Tahoma"/>
                <a:cs typeface="Tahoma"/>
                <a:sym typeface="Tahoma"/>
              </a:rPr>
              <a:t>(Academic SEO)</a:t>
            </a:r>
            <a:endParaRPr b="1" i="0" sz="2200" u="none" cap="none" strike="noStrike">
              <a:solidFill>
                <a:srgbClr val="0B1A48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4" name="Google Shape;474;p33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5208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1A48"/>
                </a:solidFill>
                <a:latin typeface="Tahoma"/>
                <a:ea typeface="Tahoma"/>
                <a:cs typeface="Tahoma"/>
                <a:sym typeface="Tahoma"/>
              </a:rPr>
              <a:t>[تطبيق عملي - 4 دقائق]</a:t>
            </a:r>
            <a:r>
              <a:rPr b="1" i="0" lang="en-US" sz="1500" u="none" cap="none" strike="noStrike">
                <a:solidFill>
                  <a:srgbClr val="00A887"/>
                </a:solidFill>
                <a:latin typeface="Tahoma"/>
                <a:ea typeface="Tahoma"/>
                <a:cs typeface="Tahoma"/>
                <a:sym typeface="Tahoma"/>
              </a:rPr>
              <a:t> مهام الأداة في تطبيق الويب</a:t>
            </a:r>
            <a:endParaRPr b="1" i="0" sz="1500" u="none" cap="none" strike="noStrike">
              <a:solidFill>
                <a:srgbClr val="00A8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Tahoma"/>
                <a:ea typeface="Tahoma"/>
                <a:cs typeface="Tahoma"/>
                <a:sym typeface="Tahoma"/>
              </a:rPr>
              <a:t>• انتقل إلى نافذة: </a:t>
            </a:r>
            <a:r>
              <a:rPr b="1" i="0" lang="en-US" sz="1200" u="none" cap="none" strike="noStrike">
                <a:solidFill>
                  <a:srgbClr val="00A887"/>
                </a:solidFill>
                <a:latin typeface="Tahoma"/>
                <a:ea typeface="Tahoma"/>
                <a:cs typeface="Tahoma"/>
                <a:sym typeface="Tahoma"/>
              </a:rPr>
              <a:t>[مختبر الذكاء الاصطناعي]</a:t>
            </a:r>
            <a:r>
              <a:rPr b="0" i="0" lang="en-US" sz="1200" u="none" cap="none" strike="noStrike">
                <a:solidFill>
                  <a:srgbClr val="1E293B"/>
                </a:solidFill>
                <a:latin typeface="Tahoma"/>
                <a:ea typeface="Tahoma"/>
                <a:cs typeface="Tahoma"/>
                <a:sym typeface="Tahoma"/>
              </a:rPr>
              <a:t> وافتح </a:t>
            </a:r>
            <a:r>
              <a:rPr b="1" i="0" lang="en-US" sz="1200" u="none" cap="none" strike="noStrike">
                <a:solidFill>
                  <a:srgbClr val="00A887"/>
                </a:solidFill>
                <a:latin typeface="Tahoma"/>
                <a:ea typeface="Tahoma"/>
                <a:cs typeface="Tahoma"/>
                <a:sym typeface="Tahoma"/>
              </a:rPr>
              <a:t>[أداة تحسين العنوان والكلمات]</a:t>
            </a:r>
            <a:r>
              <a:rPr b="0" i="0" lang="en-US" sz="1200" u="none" cap="none" strike="noStrike">
                <a:solidFill>
                  <a:srgbClr val="1E293B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200" u="none" cap="none" strike="noStrike">
              <a:solidFill>
                <a:srgbClr val="1E293B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A48"/>
                </a:solidFill>
                <a:latin typeface="Tahoma"/>
                <a:ea typeface="Tahoma"/>
                <a:cs typeface="Tahoma"/>
                <a:sym typeface="Tahoma"/>
              </a:rPr>
              <a:t>• الفراغات المطلوبة منك:</a:t>
            </a:r>
            <a:endParaRPr b="1" i="0" sz="1200" u="none" cap="none" strike="noStrike">
              <a:solidFill>
                <a:srgbClr val="0B1A4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71450" rtl="1"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1. تخصصك الدقيق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Tahoma"/>
                <a:ea typeface="Tahoma"/>
                <a:cs typeface="Tahoma"/>
                <a:sym typeface="Tahoma"/>
              </a:rPr>
              <a:t>(مثال: تقنية الأشعة والتصوير المقطعي)</a:t>
            </a:r>
            <a:r>
              <a:rPr b="0" i="0" lang="en-US" sz="115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15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7145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2. العنوان المقترح أو فكرة البحث الحالية.</a:t>
            </a:r>
            <a:endParaRPr b="0" i="0" sz="115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7145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3. الكلمات المفتاحية الأساسية في دراستك.</a:t>
            </a:r>
            <a:endParaRPr b="0" i="0" sz="115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Tahoma"/>
                <a:ea typeface="Tahoma"/>
                <a:cs typeface="Tahoma"/>
                <a:sym typeface="Tahoma"/>
              </a:rPr>
              <a:t>• اضغط على زر </a:t>
            </a:r>
            <a:r>
              <a:rPr b="1" i="0" lang="en-US" sz="1200" u="none" cap="none" strike="noStrike">
                <a:solidFill>
                  <a:srgbClr val="00A887"/>
                </a:solidFill>
                <a:latin typeface="Tahoma"/>
                <a:ea typeface="Tahoma"/>
                <a:cs typeface="Tahoma"/>
                <a:sym typeface="Tahoma"/>
              </a:rPr>
              <a:t>[توليد الخيارات المحسنة عبر Gemini Flash]</a:t>
            </a:r>
            <a:r>
              <a:rPr b="0" i="0" lang="en-US" sz="1200" u="none" cap="none" strike="noStrike">
                <a:solidFill>
                  <a:srgbClr val="1E293B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200" u="none" cap="none" strike="noStrike">
              <a:solidFill>
                <a:srgbClr val="1E293B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A48"/>
                </a:solidFill>
                <a:latin typeface="Tahoma"/>
                <a:ea typeface="Tahoma"/>
                <a:cs typeface="Tahoma"/>
                <a:sym typeface="Tahoma"/>
              </a:rPr>
              <a:t>• المخرجات:</a:t>
            </a:r>
            <a:endParaRPr b="1" i="0" sz="1200" u="none" cap="none" strike="noStrike">
              <a:solidFill>
                <a:srgbClr val="0B1A4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71450" rtl="1" algn="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▪ 3 صياغات بديلة للعناوين مصنفة حسب الجاذبية وسهولة الاسترجاع في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Tahoma"/>
                <a:ea typeface="Tahoma"/>
                <a:cs typeface="Tahoma"/>
                <a:sym typeface="Tahoma"/>
              </a:rPr>
              <a:t>Scholar</a:t>
            </a:r>
            <a:r>
              <a:rPr b="0" i="0" lang="en-US" sz="115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15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71450" rtl="1" algn="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▪ قائمة كلمات مفتاحية استراتيجية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Tahoma"/>
                <a:ea typeface="Tahoma"/>
                <a:cs typeface="Tahoma"/>
                <a:sym typeface="Tahoma"/>
              </a:rPr>
              <a:t>(MeSH)</a:t>
            </a:r>
            <a:r>
              <a:rPr b="0" i="0" lang="en-US" sz="115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 مقترحة لزيادة الاقتباس.</a:t>
            </a:r>
            <a:endParaRPr b="0" i="0" sz="115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p33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5208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887"/>
                </a:solidFill>
                <a:latin typeface="Tahoma"/>
                <a:ea typeface="Tahoma"/>
                <a:cs typeface="Tahoma"/>
                <a:sym typeface="Tahoma"/>
              </a:rPr>
              <a:t>[الفائدة البحثية]</a:t>
            </a:r>
            <a:r>
              <a:rPr b="1" i="0" lang="en-US" sz="1500" u="none" cap="none" strike="noStrike">
                <a:solidFill>
                  <a:srgbClr val="0B1A48"/>
                </a:solidFill>
                <a:latin typeface="Tahoma"/>
                <a:ea typeface="Tahoma"/>
                <a:cs typeface="Tahoma"/>
                <a:sym typeface="Tahoma"/>
              </a:rPr>
              <a:t> القيمة المضافة للأداة</a:t>
            </a:r>
            <a:endParaRPr b="1" i="0" sz="1500" u="none" cap="none" strike="noStrike">
              <a:solidFill>
                <a:srgbClr val="0B1A4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• تحويل العناوين الوصفية السردية إلى عناوين محددة الأثر والنتائج.</a:t>
            </a:r>
            <a:endParaRPr b="0" i="0" sz="120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• ضمان مطابقة الكلمات لأحدث مصطلحات الفهرسة العالمية.</a:t>
            </a:r>
            <a:endParaRPr b="0" i="0" sz="120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• توفير وقت الباحث في صياغة العناوين التنافسية المناسبة للمجلات من الفئة الأولى </a:t>
            </a:r>
            <a:r>
              <a:rPr b="1" i="0" lang="en-US" sz="1200" u="none" cap="none" strike="noStrike">
                <a:solidFill>
                  <a:srgbClr val="00A887"/>
                </a:solidFill>
                <a:latin typeface="Tahoma"/>
                <a:ea typeface="Tahoma"/>
                <a:cs typeface="Tahoma"/>
                <a:sym typeface="Tahoma"/>
              </a:rPr>
              <a:t>(Q1)</a:t>
            </a:r>
            <a:r>
              <a:rPr b="0" i="0" lang="en-US" sz="120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20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Tahoma"/>
                <a:ea typeface="Tahoma"/>
                <a:cs typeface="Tahoma"/>
                <a:sym typeface="Tahoma"/>
              </a:rPr>
              <a:t>• إمكانية نسخ النتائج وحفظها في خطتك الشخصية بنقرة زر واحدة.</a:t>
            </a:r>
            <a:endParaRPr b="0" i="0" sz="1200" u="none" cap="none" strike="noStrike">
              <a:solidFill>
                <a:srgbClr val="334155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81" name="Google Shape;4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4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4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أداة AI (2): مُولّد الملخص التبسيطي للجمهور والإعلام </a:t>
            </a:r>
            <a:r>
              <a:rPr b="0" i="0" lang="en-US" sz="18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(Lay Summary)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7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[تطبيق عملي - 4 دقائق] مهام الأداة في تطبيق الويب</a:t>
            </a:r>
            <a:endParaRPr b="1" i="0" sz="17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انتقل إلى: </a:t>
            </a: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[أداة الملخص التبسيطي ونشر الأثر المجتمعي]</a:t>
            </a:r>
            <a:r>
              <a:rPr b="0" i="0" lang="en-US" sz="14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الفراغات المطلوبة منك:</a:t>
            </a:r>
            <a:endParaRPr b="1" i="0" sz="14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 التخصص والجمهور المستهدف </a:t>
            </a:r>
            <a:r>
              <a:rPr b="0" i="0" lang="en-US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(إعلاميون، عموم المجتمع، أو صناع قرار)</a:t>
            </a: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 ملخص البحث التقني أو الفكرة الجوهرية للنتائج.</a:t>
            </a:r>
            <a:endParaRPr b="0" i="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اضغط على </a:t>
            </a: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[توليد الملخص التبسيطي]</a:t>
            </a:r>
            <a:r>
              <a:rPr b="0" i="0" lang="en-US" sz="14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المخرجات:</a:t>
            </a:r>
            <a:endParaRPr b="1" i="0" sz="14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ملخص علمي مبسط ومحكم بلغة واضحة خالية من التعقيد الاصطلاحي الجاف.</a:t>
            </a:r>
            <a:endParaRPr b="0" i="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مسودة منشور احترافي جاهز للمشاركة على منصة </a:t>
            </a:r>
            <a:r>
              <a:rPr b="1" i="0" lang="en-US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و </a:t>
            </a:r>
            <a:r>
              <a:rPr b="1" i="0" lang="en-US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بيان بأهمية البحث للرأي العام والتطبيق العملي في المجتمع.</a:t>
            </a:r>
            <a:endParaRPr b="0" i="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4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7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[الأثر المجتمعي] </a:t>
            </a:r>
            <a:r>
              <a:rPr b="1" i="0" lang="en-US" sz="17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لماذا يحتاج الباحث للملخص التبسيطي؟</a:t>
            </a:r>
            <a:endParaRPr b="1" i="0" sz="17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تطلبه كبرى دور النشر والمجلات المرموقة اليوم </a:t>
            </a:r>
            <a:r>
              <a:rPr b="0" i="0" lang="en-US" sz="14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(مثل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Elsevier</a:t>
            </a:r>
            <a:r>
              <a:rPr b="0" i="0" lang="en-US" sz="14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و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PNAS</a:t>
            </a:r>
            <a:r>
              <a:rPr b="0" i="0" lang="en-US" sz="14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المفتاح الأول لرفع مؤشرات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Altmetrics</a:t>
            </a: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وجذب التغطيات الصحفية.</a:t>
            </a:r>
            <a:endParaRPr b="0" i="0" sz="14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تمكين صناع القرار في وزارة الصحة أو التعليم من الاستفادة من مخرجاتك.</a:t>
            </a:r>
            <a:endParaRPr b="0" i="0" sz="14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إبراز جهود جامعة طيبة في خدمة المجتمع وحل التحديات الوطنية.</a:t>
            </a:r>
            <a:endParaRPr b="0" i="0" sz="14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91" name="Google Shape;49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5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5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أداة AI (3): صانع خطابات الشراكات الدولية </a:t>
            </a:r>
            <a:r>
              <a:rPr b="0" i="0" lang="en-US" sz="18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(Collaboration Pitch)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5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[تطبيق عملي - 4 دقائق] </a:t>
            </a:r>
            <a:r>
              <a:rPr b="1" i="0" lang="en-US" sz="16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مهام الأداة في تطبيق الويب</a:t>
            </a:r>
            <a:endParaRPr b="1" i="0" sz="16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انتقل إلى: </a:t>
            </a:r>
            <a:r>
              <a:rPr b="1" i="0" lang="en-US" sz="13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[أداة صانع خطابات استقطاب الشراكات الدولية]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الفراغات المطلوبة منك: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 اسم الباحث أو المختبر الدولي المستهدف وجهته الأكاديمية.</a:t>
            </a:r>
            <a:endParaRPr b="1" i="0" sz="13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 موضوع أو ورقة الباحث التي أثارت اهتمامك وتريد البناء عليها.</a:t>
            </a:r>
            <a:endParaRPr b="1" i="0" sz="13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 ما الذي تقدمه أنت ومجموعتك البحثية بجامعة طيبة كقيمة مضافة.</a:t>
            </a:r>
            <a:endParaRPr b="1" i="0" sz="13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اضغط على </a:t>
            </a:r>
            <a:r>
              <a:rPr b="1" i="0" lang="en-US" sz="13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[صياغة خطاب الشراكة الاحترافي بالإنجليزية]</a:t>
            </a: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المخرجات:</a:t>
            </a:r>
            <a:endParaRPr b="1" i="0" sz="13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رسالة بريد إلكتروني أكاديمية محكمة باللغة الإنجليزية وفق التقاليد الجامعية العالمية، مقتضبة وواضحة وجاذبة للرد والتعاون.</a:t>
            </a:r>
            <a:endParaRPr b="1" i="0" sz="13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[البروتوكول الأكاديمي] </a:t>
            </a:r>
            <a:r>
              <a:rPr b="1" i="0" lang="en-US" sz="16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معايير الخطاب الناجح المقبول عالمياً</a:t>
            </a:r>
            <a:endParaRPr b="1" i="0" sz="16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الابتعاد عن التملق المبالغ فيه؛ التركيز على الاحترام العلمي والمشترك البحثي.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الوضوح في طلب الاجتماع الافتراضي الأولي </a:t>
            </a: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(مثال: لقاء 15 دقيقة عبر Zoom)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إبراز الإمكانات الحقيقية والتزام جامعة طيبة بدعم المشاريع النوعية.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تجنب الرسائل الطويلة المجهدة؛ الخطاب الفعال لا يتجاوز 250 إلى 300 كلمة.</a:t>
            </a:r>
            <a:endParaRPr b="1" i="0" sz="1350" u="none" cap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501" name="Google Shape;5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6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أداة AI (4): خطة الترويج الرقمي للبحث بعد القبول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6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0FDFA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[تطبيق عملي - 4 دقائق]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مهام الأداة في تطبيق الويب</a:t>
            </a:r>
            <a:endParaRPr b="1" i="0" sz="14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انتقل إلى: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[أداة خطة الترويج والنشر بعد القبول]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الفراغات المطلوبة منك: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 نوع الورقة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(بحث أصيل Original / مراجعة Review / تقرير حالة Case Report)</a:t>
            </a: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2. حالة النشر </a:t>
            </a: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(وصول مفتوح OA أو اشتراكات تقليدية)</a:t>
            </a: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3. المنصات المتوفرة لديك </a:t>
            </a:r>
            <a:r>
              <a:rPr b="1" i="0" lang="en-US" sz="11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(ORCID, RG, LinkedIn, مستودع الجامعة)</a:t>
            </a: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اضغط على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[توليد خطة الترويج الزمنية]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المخرجات: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جدول زمني تفصيلي للمهام التسويقية للبحث: الأسبوع 1، الشهر 1، والشهر 3.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77800" rtl="1" algn="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قائمة بالوسوم والشبكات والمستودعات المناسبة لطبيعة بحثك.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[الواجب المعرفي]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الترويج العلمي ليس تفاخراً بل واجب!</a:t>
            </a:r>
            <a:endParaRPr b="1" i="0" sz="14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نشر البحث هو بداية الرحلة وليس نهايتها.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واجبك كباحث إيصال المعرفة لمن يحتاجها من الأطباء والعلماء وصناع القرار.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الأبحاث التي تتبع خطة ترويجية منتظمة تتضاعف استشهاداتها في أول سنتين.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الحفاظ على حضورك النشط يجعلك مرجعاً موثوقاً للصحافة والمجلات كمحكم ومستشار.</a:t>
            </a:r>
            <a:endParaRPr b="1" i="0" sz="11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511" name="Google Shape;5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7"/>
          <p:cNvSpPr/>
          <p:nvPr/>
        </p:nvSpPr>
        <p:spPr>
          <a:xfrm>
            <a:off x="4114800" y="1645920"/>
            <a:ext cx="3959400" cy="502800"/>
          </a:xfrm>
          <a:prstGeom prst="roundRect">
            <a:avLst>
              <a:gd fmla="val 16667" name="adj"/>
            </a:avLst>
          </a:prstGeom>
          <a:solidFill>
            <a:srgbClr val="122A6B"/>
          </a:solidFill>
          <a:ln cap="flat" cmpd="sng" w="15225">
            <a:solidFill>
              <a:srgbClr val="00C4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المحطة التدريبية 05 | الزمن المتوقع: 05 دقائق</a:t>
            </a:r>
            <a:endParaRPr b="1" i="0" sz="130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7"/>
          <p:cNvSpPr txBox="1"/>
          <p:nvPr/>
        </p:nvSpPr>
        <p:spPr>
          <a:xfrm>
            <a:off x="1371600" y="2377440"/>
            <a:ext cx="9445800" cy="9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المحطة الخامسة: خطة العمل الفردية والختام</a:t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خطة الـ 30 يوماً • تقرير النضج الرقمي الشخصي • التوصيات المستدامة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7"/>
          <p:cNvSpPr/>
          <p:nvPr/>
        </p:nvSpPr>
        <p:spPr>
          <a:xfrm>
            <a:off x="2011680" y="4114800"/>
            <a:ext cx="8165700" cy="1371600"/>
          </a:xfrm>
          <a:prstGeom prst="roundRect">
            <a:avLst>
              <a:gd fmla="val 16667" name="adj"/>
            </a:avLst>
          </a:prstGeom>
          <a:solidFill>
            <a:srgbClr val="122055"/>
          </a:solidFill>
          <a:ln cap="flat" cmpd="sng" w="15225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5250" lIns="361950" spcFirstLastPara="1" rIns="36195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/>
              <a:buNone/>
            </a:pPr>
            <a:r>
              <a:rPr b="1" i="0" lang="en-US" sz="139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الأهداف والمخرجات المباشرة لهذه المحطة:</a:t>
            </a:r>
            <a:endParaRPr b="1" i="0" sz="139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b="0" i="0" lang="en-US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صياغة واعتماد خطة العمل الشخصية للـ 30 يوماً الأولى بعد الورشة.</a:t>
            </a:r>
            <a:endParaRPr b="0" i="0" sz="12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b="0" i="0" lang="en-US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تصدير تقرير النضج الرقمي وخريطة الطريق الفردية بصيغة جاهزة للطباعة.</a:t>
            </a:r>
            <a:endParaRPr b="0" i="0" sz="12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b="0" i="0" lang="en-US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الاستبيان التقييمي للورشة واعتماد التوصيات الختامية وتوزيع قنوات التواصل.</a:t>
            </a:r>
            <a:endParaRPr b="0" i="0" sz="12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520" name="Google Shape;5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8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8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خطة العمل للـ 30 يوماً الأولى بعد الورشة </a:t>
            </a:r>
            <a:r>
              <a:rPr b="0" i="0" lang="en-US" sz="18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(Checklist)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[الأسبوع 1: التأسيس]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الأسبوع الأول: التأسيس والتوثيق الموحد</a:t>
            </a:r>
            <a:endParaRPr b="1" i="0" sz="14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اليوم 1 - 2: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إنشاء حساب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ORCID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أو تدقيقه وإضافة انتساب جامعة طيبة وضبط الخصوصية على 'Everyone'.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اليوم 3 - 4: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الدخول إلى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Google Scholar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، توثيق إيميل الجامعة (@taibahu.edu.sa)، دمج الأبحاث المكررة، وجعل الملف عاماً.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اليوم 5: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تفعيل حساب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ResearchGate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وإضافة الاهتمامات البحثية وطلب الانضمام لقسمك العلمي بالجامعة.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اليوم 6 - 7: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البحث في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Scopus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عن وجود أي ملفات منقسمة وتقديم طلب الدمج الفوري.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8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25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[الأسابيع 2-4: الأثر] الأسابيع 2 إلى 4: الانطلاق والأثر</a:t>
            </a:r>
            <a:endParaRPr b="1" i="0" sz="14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الأسبوع 2: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إيداع نسخ أبحاثك المقبولة (AAM) في المستودعات المفتوحة المتوافقة مع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Sherpa Romeo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الأسبوع 3: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تحديد "الورقة الذهبية" الأقرب لرفع معامل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h-index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وصياغة ملخص تبسيطي لها عبر أدوات الذكاء الاصطناعي ومشاركتها في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الأسبوع 4: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تحديد باحثين دوليين مرموقين في مجالك وصياغة أول خطاب استقطاب شراكة بحثية.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اليوم 30: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إعادة قياس نضجك الرقمي والاحتفال بالانتقال إلى فئة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"الباحث المتميز"!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530" name="Google Shape;53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9"/>
          <p:cNvSpPr txBox="1"/>
          <p:nvPr/>
        </p:nvSpPr>
        <p:spPr>
          <a:xfrm>
            <a:off x="731520" y="292608"/>
            <a:ext cx="106986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جامعة طيبة | عمادة التطوير والجودة | الهوية الرقمية الأكاديمية والحضور البحثي العالمي</a:t>
            </a:r>
            <a:endParaRPr b="1" i="0" sz="110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9"/>
          <p:cNvSpPr txBox="1"/>
          <p:nvPr/>
        </p:nvSpPr>
        <p:spPr>
          <a:xfrm>
            <a:off x="731520" y="594360"/>
            <a:ext cx="10698600" cy="4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إصدار وثيقة خطة العمل الشخصية والشهادة من تطبيق الويب</a:t>
            </a:r>
            <a:endParaRPr b="1" i="0" sz="220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9"/>
          <p:cNvSpPr/>
          <p:nvPr/>
        </p:nvSpPr>
        <p:spPr>
          <a:xfrm>
            <a:off x="5943600" y="1463040"/>
            <a:ext cx="5303400" cy="4389000"/>
          </a:xfrm>
          <a:prstGeom prst="roundRect">
            <a:avLst>
              <a:gd fmla="val 16666" name="adj"/>
            </a:avLst>
          </a:prstGeom>
          <a:solidFill>
            <a:srgbClr val="F0FDFA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[التوثيق الشخصي] 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خطوات إصدار وثيقتك الفردية الآن</a:t>
            </a:r>
            <a:endParaRPr b="1" i="0" sz="1450" u="none" cap="none" strike="noStrike">
              <a:solidFill>
                <a:srgbClr val="00A8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انتقل إلى الشاشة الأخيرة في تطبيق الويب: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[خطة العمل والتقييم الختامي]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اكتب اسمك الثلاثي وقسمك العلمي وكلية انتسابك بجامعة طيبة.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• التطبيق سيجمع تلقائياً:</a:t>
            </a:r>
            <a:endParaRPr b="1" i="0" sz="11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نتيجة اختبار النضج الرقمي التي حصلت عليها في البداية.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شارات إتمام المحاكيات الأربعة </a:t>
            </a: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(ORCID, Scholar, RG, Scopus)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ملخص مخرجاتك من مختبر الذكاء الاصطناعي.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اضغط على زر </a:t>
            </a:r>
            <a:r>
              <a:rPr b="1" i="0" lang="en-US" sz="11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[طباعة / حفظ خطة العمل الشخصية PDF]</a:t>
            </a: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احتفظ بهذه الوثيقة كدليل إرشادي يوجهك في خطتك البحثية القادمة.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9"/>
          <p:cNvSpPr/>
          <p:nvPr/>
        </p:nvSpPr>
        <p:spPr>
          <a:xfrm>
            <a:off x="731520" y="1463040"/>
            <a:ext cx="4937700" cy="43890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152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190500" lIns="228600" spcFirstLastPara="1" rIns="2286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[الموسوعة المستمرة]</a:t>
            </a:r>
            <a:r>
              <a:rPr b="1" i="0" lang="en-US" sz="1450" u="none" cap="none" strike="noStrike">
                <a:solidFill>
                  <a:srgbClr val="0B1A48"/>
                </a:solidFill>
                <a:latin typeface="Arial"/>
                <a:ea typeface="Arial"/>
                <a:cs typeface="Arial"/>
                <a:sym typeface="Arial"/>
              </a:rPr>
              <a:t> أدلة الاستخدام لما بعد الورشة المتاحة بالتطبيق</a:t>
            </a:r>
            <a:endParaRPr b="1" i="0" sz="1450" u="none" cap="none" strike="noStrike">
              <a:solidFill>
                <a:srgbClr val="0B1A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التطبيق يظل متاحاً لك عبر الرابط السحابي مع موسوعة أدلة شاملة:</a:t>
            </a:r>
            <a:endParaRPr b="0" i="0" sz="11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الدليل المصور الكامل لتوثيق وحل مشكلات </a:t>
            </a: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ORCID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دليل صيانة وتنظيف وتأكيد أبحاث </a:t>
            </a: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Google Scholar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دليل سياسات النشر الأخضر وحقوق الناشرين في </a:t>
            </a: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ResearchGate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دليل طلبات تصحيح ودعم </a:t>
            </a: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Scopus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و </a:t>
            </a:r>
            <a:r>
              <a:rPr b="1" i="0" lang="en-US" sz="1050" u="none" cap="none" strike="noStrike">
                <a:solidFill>
                  <a:srgbClr val="00A887"/>
                </a:solidFill>
                <a:latin typeface="Arial"/>
                <a:ea typeface="Arial"/>
                <a:cs typeface="Arial"/>
                <a:sym typeface="Arial"/>
              </a:rPr>
              <a:t>Clarivate</a:t>
            </a: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03200" rtl="1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▪ نماذج وقوالب جاهزة لمراسلات التعاون الأكاديمي الدولي.</a:t>
            </a:r>
            <a:endParaRPr b="0" i="0" sz="105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540" name="Google Shape;54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0"/>
          <p:cNvSpPr txBox="1"/>
          <p:nvPr/>
        </p:nvSpPr>
        <p:spPr>
          <a:xfrm>
            <a:off x="4818175" y="2841670"/>
            <a:ext cx="6583800" cy="90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شكراً لحضوركم وتفاعلكم المتميز</a:t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معاً نبني حضوراً بحثياً عالمياً يعزز مكانة جامعة طيبة في مصاف الجامعات المرموقة</a:t>
            </a:r>
            <a:endParaRPr b="0" i="0" sz="150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0"/>
          <p:cNvSpPr/>
          <p:nvPr/>
        </p:nvSpPr>
        <p:spPr>
          <a:xfrm>
            <a:off x="4818175" y="4062050"/>
            <a:ext cx="6583800" cy="2103000"/>
          </a:xfrm>
          <a:prstGeom prst="roundRect">
            <a:avLst>
              <a:gd fmla="val 16666" name="adj"/>
            </a:avLst>
          </a:prstGeom>
          <a:solidFill>
            <a:srgbClr val="122055"/>
          </a:solidFill>
          <a:ln cap="flat" cmpd="sng" w="15250">
            <a:solidFill>
              <a:srgbClr val="00A88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90500" lIns="266700" spcFirstLastPara="1" rIns="266700" wrap="square" tIns="1905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د. عزت عمر عبدالله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أبوعزه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C4D8"/>
                </a:solidFill>
                <a:latin typeface="Arial"/>
                <a:ea typeface="Arial"/>
                <a:cs typeface="Arial"/>
                <a:sym typeface="Arial"/>
              </a:rPr>
              <a:t>أستاذ مساعد - قسم تقنية الأشعة - كلية العلوم الطبية التطبيقية</a:t>
            </a:r>
            <a:endParaRPr b="0" i="0" sz="1250" u="none" cap="none" strike="noStrike">
              <a:solidFill>
                <a:srgbClr val="00C4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جامعة طيبة | المدينة المنورة | المملكة العربية السعودية</a:t>
            </a:r>
            <a:endParaRPr b="0" i="0" sz="11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رابط منصة الورشة التفاعلية المستمرة متاح على خادم الـ (VPS)</a:t>
            </a:r>
            <a:endParaRPr b="1" i="0" sz="1200" u="none" cap="none" strike="noStrike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جامعة طيبة">
      <a:dk1>
        <a:srgbClr val="000000"/>
      </a:dk1>
      <a:lt1>
        <a:srgbClr val="FFFFFF"/>
      </a:lt1>
      <a:dk2>
        <a:srgbClr val="111144"/>
      </a:dk2>
      <a:lt2>
        <a:srgbClr val="DCDCDC"/>
      </a:lt2>
      <a:accent1>
        <a:srgbClr val="0A8D6E"/>
      </a:accent1>
      <a:accent2>
        <a:srgbClr val="00AEDA"/>
      </a:accent2>
      <a:accent3>
        <a:srgbClr val="4056E3"/>
      </a:accent3>
      <a:accent4>
        <a:srgbClr val="40E0D0"/>
      </a:accent4>
      <a:accent5>
        <a:srgbClr val="E5C603"/>
      </a:accent5>
      <a:accent6>
        <a:srgbClr val="FFD1DC"/>
      </a:accent6>
      <a:hlink>
        <a:srgbClr val="0E2841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جامعة طيبة">
      <a:dk1>
        <a:srgbClr val="000000"/>
      </a:dk1>
      <a:lt1>
        <a:srgbClr val="FFFFFF"/>
      </a:lt1>
      <a:dk2>
        <a:srgbClr val="111144"/>
      </a:dk2>
      <a:lt2>
        <a:srgbClr val="DCDCDC"/>
      </a:lt2>
      <a:accent1>
        <a:srgbClr val="0A8D6E"/>
      </a:accent1>
      <a:accent2>
        <a:srgbClr val="00AEDA"/>
      </a:accent2>
      <a:accent3>
        <a:srgbClr val="4056E3"/>
      </a:accent3>
      <a:accent4>
        <a:srgbClr val="40E0D0"/>
      </a:accent4>
      <a:accent5>
        <a:srgbClr val="E5C603"/>
      </a:accent5>
      <a:accent6>
        <a:srgbClr val="FFD1DC"/>
      </a:accent6>
      <a:hlink>
        <a:srgbClr val="0E2841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2025-08-19T15:14:45Z</dcterms:created>
  <dc:creator>Hamza Mohammed Othman Omer Eid</dc:creator>
</cp:coreProperties>
</file>